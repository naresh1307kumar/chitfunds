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12192000"/>
  <p:embeddedFontLst>
    <p:embeddedFont>
      <p:font typeface="Alegreya Sans" panose="020B0604020202020204" charset="0"/>
      <p:regular r:id="rId10"/>
    </p:embeddedFont>
    <p:embeddedFont>
      <p:font typeface="Alegreya Sans Bold" panose="020B0604020202020204" charset="0"/>
      <p:regular r:id="rId11"/>
    </p:embeddedFont>
    <p:embeddedFont>
      <p:font typeface="Alegreya Sans Medium" panose="020B0604020202020204" charset="0"/>
      <p:regular r:id="rId12"/>
    </p:embeddedFont>
    <p:embeddedFont>
      <p:font typeface="Noto Serif Display" panose="020B0604020202020204" charset="0"/>
      <p:regular r:id="rId13"/>
    </p:embeddedFont>
    <p:embeddedFont>
      <p:font typeface="Noto Serif Display Light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AB53390-9AD6-4084-B5DF-70A892D6D227}">
          <p14:sldIdLst>
            <p14:sldId id="256"/>
            <p14:sldId id="257"/>
            <p14:sldId id="262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2543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99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14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6802" y="3656953"/>
            <a:ext cx="7334067" cy="950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7200" kern="100" spc="-72" dirty="0">
                <a:solidFill>
                  <a:srgbClr val="FFFFFF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Secure Chit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56802" y="4649391"/>
            <a:ext cx="8553236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External Viva Examination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56802" y="5218113"/>
            <a:ext cx="457189" cy="31552"/>
          </a:xfrm>
          <a:prstGeom prst="roundRect">
            <a:avLst>
              <a:gd name="adj" fmla="val 49998"/>
            </a:avLst>
          </a:prstGeom>
          <a:solidFill>
            <a:srgbClr val="C9A15A"/>
          </a:solidFill>
          <a:ln/>
        </p:spPr>
      </p:sp>
      <p:sp>
        <p:nvSpPr>
          <p:cNvPr id="5" name="Text 3"/>
          <p:cNvSpPr/>
          <p:nvPr/>
        </p:nvSpPr>
        <p:spPr>
          <a:xfrm>
            <a:off x="556802" y="5505549"/>
            <a:ext cx="7334067" cy="1105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kern="100" spc="192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TEAM MEMBERS: R.NARESHKUMAR (24UCS08) · APR.JEGATHEESH VARSHAN (24UCS06)</a:t>
            </a:r>
            <a:endParaRPr lang="en-US" sz="16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600" kern="100" spc="192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 </a:t>
            </a:r>
            <a:endParaRPr lang="en-US" sz="16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600" kern="100" spc="192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PROJECT GUIDE: MRS. SM. VALLI B.E., M.C.A., M.PHIL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730683"/>
            <a:ext cx="3150613" cy="501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100" spc="-38" dirty="0">
                <a:solidFill>
                  <a:srgbClr val="1E2620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SecureChit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268611"/>
            <a:ext cx="2346762" cy="49691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80210" y="688515"/>
            <a:ext cx="7101900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17" dirty="0">
                <a:solidFill>
                  <a:srgbClr val="1E2620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Project Summary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480210" y="1320701"/>
            <a:ext cx="7101900" cy="4266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b="1" dirty="0">
                <a:solidFill>
                  <a:srgbClr val="2B332C"/>
                </a:solidFill>
                <a:latin typeface="Alegreya Sans Bold" pitchFamily="34" charset="0"/>
                <a:ea typeface="Alegreya Sans Bold" pitchFamily="34" charset="-122"/>
                <a:cs typeface="Alegreya Sans Bold" pitchFamily="34" charset="-120"/>
              </a:rPr>
              <a:t>Digital Transformation:</a:t>
            </a: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 </a:t>
            </a:r>
            <a:r>
              <a:rPr lang="en-US" sz="1600" b="1" dirty="0">
                <a:solidFill>
                  <a:srgbClr val="2B332C"/>
                </a:solidFill>
                <a:latin typeface="Alegreya Sans Bold" pitchFamily="34" charset="0"/>
                <a:ea typeface="Alegreya Sans Bold" pitchFamily="34" charset="-122"/>
                <a:cs typeface="Alegreya Sans Bold" pitchFamily="34" charset="-120"/>
              </a:rPr>
              <a:t>SecureChit</a:t>
            </a: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 is a trusted enterprise platform that replaces traditional paper-based chit funds with a verified, transparent, and legally accountable digital system.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b="1" dirty="0">
                <a:solidFill>
                  <a:srgbClr val="2B332C"/>
                </a:solidFill>
                <a:latin typeface="Alegreya Sans Bold" pitchFamily="34" charset="0"/>
                <a:ea typeface="Alegreya Sans Bold" pitchFamily="34" charset="-122"/>
                <a:cs typeface="Alegreya Sans Bold" pitchFamily="34" charset="-120"/>
              </a:rPr>
              <a:t>Real-time Reverse Auction:</a:t>
            </a: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 Features a live bidding engine with emergency rank prioritization and an automated dividend calculator that strictly enforces the statutory 5% foreman commission cap.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b="1" dirty="0">
                <a:solidFill>
                  <a:srgbClr val="2B332C"/>
                </a:solidFill>
                <a:latin typeface="Alegreya Sans Bold" pitchFamily="34" charset="0"/>
                <a:ea typeface="Alegreya Sans Bold" pitchFamily="34" charset="-122"/>
                <a:cs typeface="Alegreya Sans Bold" pitchFamily="34" charset="-120"/>
              </a:rPr>
              <a:t>Paperless Legal Compliance:</a:t>
            </a: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 Introduces an automated </a:t>
            </a:r>
            <a:r>
              <a:rPr lang="en-US" sz="1600" b="1" dirty="0">
                <a:solidFill>
                  <a:srgbClr val="2B332C"/>
                </a:solidFill>
                <a:latin typeface="Alegreya Sans Bold" pitchFamily="34" charset="0"/>
                <a:ea typeface="Alegreya Sans Bold" pitchFamily="34" charset="-122"/>
                <a:cs typeface="Alegreya Sans Bold" pitchFamily="34" charset="-120"/>
              </a:rPr>
              <a:t>Digital Promissory Note (PRN-2026-XXXX)</a:t>
            </a: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 module, requiring winners to provide an HTML5 canvas touch/mouse signature before prize disbursal.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b="1" dirty="0">
                <a:solidFill>
                  <a:srgbClr val="2B332C"/>
                </a:solidFill>
                <a:latin typeface="Alegreya Sans Bold" pitchFamily="34" charset="0"/>
                <a:ea typeface="Alegreya Sans Bold" pitchFamily="34" charset="-122"/>
                <a:cs typeface="Alegreya Sans Bold" pitchFamily="34" charset="-120"/>
              </a:rPr>
              <a:t>End-to-End Automation:</a:t>
            </a: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 Seamlessly manages the complete ROSCA lifecycle—from Aadhaar/PAN KYC verification and group enrollment to secure UPI installment tracking and final settlement.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b="1" dirty="0">
                <a:solidFill>
                  <a:srgbClr val="2B332C"/>
                </a:solidFill>
                <a:latin typeface="Alegreya Sans Bold" pitchFamily="34" charset="0"/>
                <a:ea typeface="Alegreya Sans Bold" pitchFamily="34" charset="-122"/>
                <a:cs typeface="Alegreya Sans Bold" pitchFamily="34" charset="-120"/>
              </a:rPr>
              <a:t>Security &amp; Integrity:</a:t>
            </a: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 Built with robust Role-Based Access Control (RBAC), JWT authentication, BCrypt hashing, and tamper-proof digital receipts (REC-2026-XXXX) for complete ledger auditability.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9865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51119" cy="6858099"/>
          </a:xfrm>
          <a:prstGeom prst="rect">
            <a:avLst/>
          </a:prstGeom>
          <a:solidFill>
            <a:srgbClr val="141A16"/>
          </a:solidFill>
          <a:ln/>
        </p:spPr>
      </p:sp>
      <p:sp>
        <p:nvSpPr>
          <p:cNvPr id="3" name="Text 1"/>
          <p:cNvSpPr/>
          <p:nvPr/>
        </p:nvSpPr>
        <p:spPr>
          <a:xfrm>
            <a:off x="584185" y="558800"/>
            <a:ext cx="3219369" cy="187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32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MODULE 01 · INPUT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4185" y="914629"/>
            <a:ext cx="2777361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00" kern="100" spc="-13" dirty="0">
                <a:solidFill>
                  <a:srgbClr val="FFFFFF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Input screens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84185" y="1451173"/>
            <a:ext cx="2285943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Secure data capture begins with authenticated member access and a digital Promissory Note request.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82908" y="431800"/>
            <a:ext cx="3835304" cy="5994499"/>
          </a:xfrm>
          <a:prstGeom prst="rect">
            <a:avLst/>
          </a:prstGeom>
          <a:solidFill>
            <a:srgbClr val="FBF9F3"/>
          </a:solidFill>
          <a:ln w="25399">
            <a:solidFill>
              <a:srgbClr val="8F9B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6902" y="685800"/>
            <a:ext cx="1685188" cy="308670"/>
          </a:xfrm>
          <a:prstGeom prst="roundRect">
            <a:avLst>
              <a:gd name="adj" fmla="val 9479"/>
            </a:avLst>
          </a:prstGeom>
          <a:solidFill>
            <a:srgbClr val="F2E9D9"/>
          </a:solidFill>
          <a:ln/>
        </p:spPr>
      </p:sp>
      <p:sp>
        <p:nvSpPr>
          <p:cNvPr id="8" name="Text 6"/>
          <p:cNvSpPr/>
          <p:nvPr/>
        </p:nvSpPr>
        <p:spPr>
          <a:xfrm>
            <a:off x="4058640" y="746720"/>
            <a:ext cx="2603534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kern="100" spc="154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INPUT SCREEN 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6902" y="1099245"/>
            <a:ext cx="327016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Member access &amp; chit details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36902" y="1539875"/>
            <a:ext cx="3270168" cy="37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32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SCREENSHOT PLACEHOLDER · LOGIN / RBAC PORTAL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36902" y="2222103"/>
            <a:ext cx="3327118" cy="31552"/>
          </a:xfrm>
          <a:prstGeom prst="roundRect">
            <a:avLst>
              <a:gd name="adj" fmla="val 49998"/>
            </a:avLst>
          </a:prstGeom>
          <a:solidFill>
            <a:srgbClr val="C9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3936902" y="2513509"/>
            <a:ext cx="3327317" cy="1991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Member ID: SC-024UCS08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 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Chit value: ₹ 1,00,000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 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Installment: ₹ 5,000 / month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 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Role-based access controls the next step.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823004" y="431800"/>
            <a:ext cx="3835304" cy="5994499"/>
          </a:xfrm>
          <a:prstGeom prst="rect">
            <a:avLst/>
          </a:prstGeom>
          <a:solidFill>
            <a:srgbClr val="FBF9F3"/>
          </a:solidFill>
          <a:ln w="25399">
            <a:solidFill>
              <a:srgbClr val="8F9B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76998" y="685800"/>
            <a:ext cx="1703146" cy="308670"/>
          </a:xfrm>
          <a:prstGeom prst="roundRect">
            <a:avLst>
              <a:gd name="adj" fmla="val 9479"/>
            </a:avLst>
          </a:prstGeom>
          <a:solidFill>
            <a:srgbClr val="F2E9D9"/>
          </a:solidFill>
          <a:ln/>
        </p:spPr>
      </p:sp>
      <p:sp>
        <p:nvSpPr>
          <p:cNvPr id="15" name="Text 13"/>
          <p:cNvSpPr/>
          <p:nvPr/>
        </p:nvSpPr>
        <p:spPr>
          <a:xfrm>
            <a:off x="8198736" y="746720"/>
            <a:ext cx="262139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kern="100" spc="154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INPUT SCREEN 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76998" y="1099245"/>
            <a:ext cx="327016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Promissory Note entry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76998" y="1539875"/>
            <a:ext cx="3270168" cy="37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32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SCREENSHOT PLACEHOLDER · SECURE DIGITAL FORM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76998" y="2222103"/>
            <a:ext cx="3327118" cy="31552"/>
          </a:xfrm>
          <a:prstGeom prst="roundRect">
            <a:avLst>
              <a:gd name="adj" fmla="val 49998"/>
            </a:avLst>
          </a:prstGeom>
          <a:solidFill>
            <a:srgbClr val="C9A15A"/>
          </a:solidFill>
          <a:ln/>
        </p:spPr>
      </p:sp>
      <p:sp>
        <p:nvSpPr>
          <p:cNvPr id="19" name="Text 17"/>
          <p:cNvSpPr/>
          <p:nvPr/>
        </p:nvSpPr>
        <p:spPr>
          <a:xfrm>
            <a:off x="8076998" y="2513509"/>
            <a:ext cx="3327317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Borrower consent and repayment terms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 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HTML5 Canvas signature area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 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Auto-generated legal Promissory Note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76998" y="4075212"/>
            <a:ext cx="3327317" cy="37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32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REPLACE THESE POLISHED PLACEHOLDERS WITH ACTUAL SCREENSHOTS WHEN SUPPLIED.</a:t>
            </a:r>
            <a:endParaRPr lang="en-US" sz="11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51119" cy="6858099"/>
          </a:xfrm>
          <a:prstGeom prst="rect">
            <a:avLst/>
          </a:prstGeom>
          <a:solidFill>
            <a:srgbClr val="1F3A2B"/>
          </a:solidFill>
          <a:ln/>
        </p:spPr>
      </p:sp>
      <p:sp>
        <p:nvSpPr>
          <p:cNvPr id="3" name="Text 1"/>
          <p:cNvSpPr/>
          <p:nvPr/>
        </p:nvSpPr>
        <p:spPr>
          <a:xfrm>
            <a:off x="584185" y="558800"/>
            <a:ext cx="3219369" cy="187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32" dirty="0">
                <a:solidFill>
                  <a:srgbClr val="FFFFFF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MODULE 02 · OUTPUT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4185" y="858471"/>
            <a:ext cx="2228794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00" kern="100" spc="-13" dirty="0">
                <a:solidFill>
                  <a:srgbClr val="FFFFFF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Output screens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84185" y="1814314"/>
            <a:ext cx="2228794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Every action produces transparent, auditable results—from payment confirmation to winner allocation and signed records.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82908" y="431800"/>
            <a:ext cx="3835304" cy="5994499"/>
          </a:xfrm>
          <a:prstGeom prst="rect">
            <a:avLst/>
          </a:prstGeom>
          <a:solidFill>
            <a:srgbClr val="FBF9F3"/>
          </a:solidFill>
          <a:ln w="25399">
            <a:solidFill>
              <a:srgbClr val="8F9B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6902" y="685800"/>
            <a:ext cx="1834211" cy="308670"/>
          </a:xfrm>
          <a:prstGeom prst="roundRect">
            <a:avLst>
              <a:gd name="adj" fmla="val 9479"/>
            </a:avLst>
          </a:prstGeom>
          <a:solidFill>
            <a:srgbClr val="F2E9D9"/>
          </a:solidFill>
          <a:ln/>
        </p:spPr>
      </p:sp>
      <p:sp>
        <p:nvSpPr>
          <p:cNvPr id="8" name="Text 6"/>
          <p:cNvSpPr/>
          <p:nvPr/>
        </p:nvSpPr>
        <p:spPr>
          <a:xfrm>
            <a:off x="4058640" y="746720"/>
            <a:ext cx="275245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kern="100" spc="154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OUTPUT SCREEN 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6902" y="1099245"/>
            <a:ext cx="327016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Payment &amp; bidding dashboard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36902" y="1539875"/>
            <a:ext cx="3270168" cy="37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32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SCREENSHOT PLACEHOLDER · LIVE TRANSACTION VIEW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36902" y="2222103"/>
            <a:ext cx="3327118" cy="31552"/>
          </a:xfrm>
          <a:prstGeom prst="roundRect">
            <a:avLst>
              <a:gd name="adj" fmla="val 49998"/>
            </a:avLst>
          </a:prstGeom>
          <a:solidFill>
            <a:srgbClr val="C9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3936902" y="2513509"/>
            <a:ext cx="3327317" cy="1991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Payment status: Successful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 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Bid value and auction timeline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 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AI-powered smart winner allocation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 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Dividend distribution summary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823004" y="431800"/>
            <a:ext cx="3835304" cy="5994499"/>
          </a:xfrm>
          <a:prstGeom prst="rect">
            <a:avLst/>
          </a:prstGeom>
          <a:solidFill>
            <a:srgbClr val="FBF9F3"/>
          </a:solidFill>
          <a:ln w="25399">
            <a:solidFill>
              <a:srgbClr val="8F9B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76998" y="685800"/>
            <a:ext cx="1852169" cy="308670"/>
          </a:xfrm>
          <a:prstGeom prst="roundRect">
            <a:avLst>
              <a:gd name="adj" fmla="val 9479"/>
            </a:avLst>
          </a:prstGeom>
          <a:solidFill>
            <a:srgbClr val="F2E9D9"/>
          </a:solidFill>
          <a:ln/>
        </p:spPr>
      </p:sp>
      <p:sp>
        <p:nvSpPr>
          <p:cNvPr id="15" name="Text 13"/>
          <p:cNvSpPr/>
          <p:nvPr/>
        </p:nvSpPr>
        <p:spPr>
          <a:xfrm>
            <a:off x="8198736" y="746720"/>
            <a:ext cx="2770515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kern="100" spc="154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OUTPUT SCREEN 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76998" y="1099245"/>
            <a:ext cx="327016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2B332C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Signed record &amp; audit trail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76998" y="1539875"/>
            <a:ext cx="3270168" cy="37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32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SCREENSHOT PLACEHOLDER · DOWNLOAD / VERIFICATION VIEW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76998" y="2222103"/>
            <a:ext cx="3327118" cy="31552"/>
          </a:xfrm>
          <a:prstGeom prst="roundRect">
            <a:avLst>
              <a:gd name="adj" fmla="val 49998"/>
            </a:avLst>
          </a:prstGeom>
          <a:solidFill>
            <a:srgbClr val="C9A15A"/>
          </a:solidFill>
          <a:ln/>
        </p:spPr>
      </p:sp>
      <p:sp>
        <p:nvSpPr>
          <p:cNvPr id="19" name="Text 17"/>
          <p:cNvSpPr/>
          <p:nvPr/>
        </p:nvSpPr>
        <p:spPr>
          <a:xfrm>
            <a:off x="8076998" y="2513509"/>
            <a:ext cx="3327317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Digital signature: Verified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 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Promissory Note: Generated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 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Audit-ready record: Available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76998" y="4075212"/>
            <a:ext cx="3327317" cy="37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32" dirty="0">
                <a:solidFill>
                  <a:srgbClr val="2B332C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REPLACE THESE POLISHED PLACEHOLDERS WITH ACTUAL SCREENSHOTS WHEN SUPPLIED.</a:t>
            </a:r>
            <a:endParaRPr lang="en-US" sz="11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81" y="739613"/>
            <a:ext cx="6343491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17" dirty="0">
                <a:solidFill>
                  <a:srgbClr val="FFFFFF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61981" y="1446510"/>
            <a:ext cx="2112017" cy="38100"/>
          </a:xfrm>
          <a:prstGeom prst="roundRect">
            <a:avLst>
              <a:gd name="adj" fmla="val 49999"/>
            </a:avLst>
          </a:prstGeom>
          <a:solidFill>
            <a:srgbClr val="C9A15A"/>
          </a:solidFill>
          <a:ln/>
        </p:spPr>
      </p:sp>
      <p:sp>
        <p:nvSpPr>
          <p:cNvPr id="4" name="Text 2"/>
          <p:cNvSpPr/>
          <p:nvPr/>
        </p:nvSpPr>
        <p:spPr>
          <a:xfrm>
            <a:off x="761981" y="1745952"/>
            <a:ext cx="6400640" cy="227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Eliminates inefficiencies and opacity of conventional paper-based chit funds.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Ensures fair prize allocation via reverse-auction and AI Emergency Priority.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Enforces the statutory 5% commission cap through automated dividend distribution.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Passed all 25 system test cases confirming functional and security requirements.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Successfully digitizes India's community savings instrument while maintaining trust.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07" y="0"/>
            <a:ext cx="4470288" cy="68580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997" y="1692870"/>
            <a:ext cx="2797303" cy="187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32" dirty="0">
                <a:solidFill>
                  <a:srgbClr val="4A5446"/>
                </a:solidFill>
                <a:latin typeface="Alegreya Sans Medium" pitchFamily="34" charset="0"/>
                <a:ea typeface="Alegreya Sans Medium" pitchFamily="34" charset="-122"/>
                <a:cs typeface="Alegreya Sans Medium" pitchFamily="34" charset="-120"/>
              </a:rPr>
              <a:t>SECURE CHIT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26997" y="1973697"/>
            <a:ext cx="2797303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000" kern="100" spc="-15" dirty="0">
                <a:solidFill>
                  <a:srgbClr val="1E2620"/>
                </a:solidFill>
                <a:latin typeface="Noto Serif Display" pitchFamily="34" charset="0"/>
                <a:ea typeface="Noto Serif Display" pitchFamily="34" charset="-122"/>
                <a:cs typeface="Noto Serif Display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047428" y="0"/>
            <a:ext cx="9144267" cy="6858000"/>
          </a:xfrm>
          <a:prstGeom prst="rect">
            <a:avLst/>
          </a:prstGeom>
          <a:solidFill>
            <a:srgbClr val="1F3A2B"/>
          </a:solidFill>
          <a:ln/>
        </p:spPr>
      </p:sp>
      <p:sp>
        <p:nvSpPr>
          <p:cNvPr id="5" name="Text 3"/>
          <p:cNvSpPr/>
          <p:nvPr/>
        </p:nvSpPr>
        <p:spPr>
          <a:xfrm>
            <a:off x="4088802" y="533400"/>
            <a:ext cx="756950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React Native Mobile App: Cross-platform access for payments and bidding.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088802" y="1353741"/>
            <a:ext cx="756950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NACH/e-NACH Auto-Debit: Automated collection to reduce default risks.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088802" y="2174081"/>
            <a:ext cx="756950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Blockchain Audit Trail: Immutable transaction records using Hyperledger Fabric.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088802" y="2994422"/>
            <a:ext cx="756950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AI Member Credit Scoring: Risk-weighted plan eligibility based on payment history.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088802" y="3814763"/>
            <a:ext cx="6959922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Multilingual &amp; Voice-Assisted Interface: Implementing regional language support (Tamil, Telugu, Hindi, etc.) and voice-guided navigation to make the platform highly accessible for rural and non-English speaking subscribers.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088802" y="5204023"/>
            <a:ext cx="6959922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legreya Sans" pitchFamily="34" charset="0"/>
                <a:ea typeface="Alegreya Sans" pitchFamily="34" charset="-122"/>
                <a:cs typeface="Alegreya Sans" pitchFamily="34" charset="-120"/>
              </a:rPr>
              <a:t>WhatsApp Chatbot Integration: An automated AI WhatsApp bot that allows members to instantly check upcoming auction schedules, outstanding dues, and download digital receipts directly via chat.</a:t>
            </a:r>
            <a:endParaRPr lang="en-US" sz="16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97" y="3058120"/>
            <a:ext cx="2690448" cy="33864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563</Words>
  <Application>Microsoft Office PowerPoint</Application>
  <PresentationFormat>Widescreen</PresentationFormat>
  <Paragraphs>76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Noto Serif Display</vt:lpstr>
      <vt:lpstr>Alegreya Sans Medium</vt:lpstr>
      <vt:lpstr>Alegreya Sans</vt:lpstr>
      <vt:lpstr>Noto Serif Display Light</vt:lpstr>
      <vt:lpstr>Alegreya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Naresh Kumar</dc:creator>
  <cp:lastModifiedBy>Naresh Kumar</cp:lastModifiedBy>
  <cp:revision>2</cp:revision>
  <dcterms:created xsi:type="dcterms:W3CDTF">2026-10-09T12:13:49Z</dcterms:created>
  <dcterms:modified xsi:type="dcterms:W3CDTF">2026-10-09T12:19:28Z</dcterms:modified>
</cp:coreProperties>
</file>