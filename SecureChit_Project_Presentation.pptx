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C58"/>
          </a:solidFill>
          <a:ln>
            <a:solidFill>
              <a:srgbClr val="10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hiagarajar_college_logo.png"/>
          <p:cNvPicPr>
            <a:picLocks noChangeAspect="1"/>
          </p:cNvPicPr>
          <p:nvPr/>
        </p:nvPicPr>
        <p:blipFill>
          <a:blip r:embed="rId2"/>
          <a:stretch>
            <a:fillRect/>
          </a:stretch>
        </p:blipFill>
        <p:spPr>
          <a:xfrm>
            <a:off x="5394960" y="274320"/>
            <a:ext cx="1371600" cy="1290918"/>
          </a:xfrm>
          <a:prstGeom prst="rect">
            <a:avLst/>
          </a:prstGeom>
        </p:spPr>
      </p:pic>
      <p:sp>
        <p:nvSpPr>
          <p:cNvPr id="4" name="TextBox 3"/>
          <p:cNvSpPr txBox="1"/>
          <p:nvPr/>
        </p:nvSpPr>
        <p:spPr>
          <a:xfrm>
            <a:off x="914400" y="1737360"/>
            <a:ext cx="10362895" cy="4754880"/>
          </a:xfrm>
          <a:prstGeom prst="rect">
            <a:avLst/>
          </a:prstGeom>
          <a:noFill/>
        </p:spPr>
        <p:txBody>
          <a:bodyPr wrap="square">
            <a:spAutoFit/>
          </a:bodyPr>
          <a:lstStyle/>
          <a:p>
            <a:pPr algn="ctr">
              <a:defRPr sz="3600" b="1">
                <a:solidFill>
                  <a:srgbClr val="FFFFFF"/>
                </a:solidFill>
              </a:defRPr>
            </a:pPr>
            <a:r>
              <a:t>SECURE CHIT</a:t>
            </a:r>
          </a:p>
          <a:p>
            <a:pPr algn="ctr">
              <a:spcAft>
                <a:spcPts val="1400"/>
              </a:spcAft>
              <a:defRPr sz="2000" b="1">
                <a:solidFill>
                  <a:srgbClr val="D97706"/>
                </a:solidFill>
              </a:defRPr>
            </a:pPr>
            <a:r>
              <a:t>DIGITAL CHIT FUND MANAGEMENT SYSTEM</a:t>
            </a:r>
          </a:p>
          <a:p>
            <a:pPr algn="ctr">
              <a:spcAft>
                <a:spcPts val="1400"/>
              </a:spcAft>
              <a:defRPr sz="1300">
                <a:solidFill>
                  <a:srgbClr val="FFFFFF"/>
                </a:solidFill>
              </a:defRPr>
            </a:pPr>
            <a:r>
              <a:t>Submitted in partial fulfilment of the requirements for the award of the degree of</a:t>
            </a:r>
            <a:br/>
            <a:r>
              <a:t>Bachelor of Science in Computer Science</a:t>
            </a:r>
          </a:p>
          <a:p>
            <a:pPr algn="ctr">
              <a:spcAft>
                <a:spcPts val="1400"/>
              </a:spcAft>
              <a:defRPr sz="1300" b="1">
                <a:solidFill>
                  <a:srgbClr val="FFFFFF"/>
                </a:solidFill>
              </a:defRPr>
            </a:pPr>
            <a:r>
              <a:t>Submitted By:</a:t>
            </a:r>
            <a:br/>
            <a:r>
              <a:t>R. NARESHKUMAR (24UCS08) | APR. JEGATHEESH VARSHAN (24UCS06)</a:t>
            </a:r>
            <a:br/>
            <a:br/>
            <a:r>
              <a:t>Under the Guidance of:</a:t>
            </a:r>
            <a:br/>
            <a:r>
              <a:t>Mrs. S. M. VALLI B.E., M.C.A., M.Phil</a:t>
            </a:r>
          </a:p>
          <a:p>
            <a:pPr algn="ctr">
              <a:defRPr sz="1100">
                <a:solidFill>
                  <a:srgbClr val="FFFFFF"/>
                </a:solidFill>
              </a:defRPr>
            </a:pPr>
            <a:r>
              <a:t>DEPARTMENT OF COMPUTER SCIENCE | THIAGARAJAR COLLEGE (AUTONOMOUS)</a:t>
            </a:r>
            <a:br/>
            <a:r>
              <a:t>(Affiliated to Madurai Kamaraj University) | Re-accredited with 'A++' Grade by NAAC | Ranked 20th in NIRF 2026</a:t>
            </a:r>
            <a:br/>
            <a:r>
              <a:t>Madurai – 625009 | October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SECURE CHIT FUND MANAGEMENT SYSTEM</a:t>
            </a:r>
          </a:p>
          <a:p>
            <a:pPr>
              <a:defRPr sz="2400" b="1">
                <a:solidFill>
                  <a:srgbClr val="103C58"/>
                </a:solidFill>
              </a:defRPr>
            </a:pPr>
            <a:r>
              <a:t>BONAFIDE CERTIFICATE</a:t>
            </a:r>
          </a:p>
        </p:txBody>
      </p:sp>
      <p:pic>
        <p:nvPicPr>
          <p:cNvPr id="4" name="Picture 3" descr="thiagarajar_college_logo.png"/>
          <p:cNvPicPr>
            <a:picLocks noChangeAspect="1"/>
          </p:cNvPicPr>
          <p:nvPr/>
        </p:nvPicPr>
        <p:blipFill>
          <a:blip r:embed="rId2"/>
          <a:stretch>
            <a:fillRect/>
          </a:stretch>
        </p:blipFill>
        <p:spPr>
          <a:xfrm>
            <a:off x="10332720" y="274320"/>
            <a:ext cx="1097280" cy="1032734"/>
          </a:xfrm>
          <a:prstGeom prst="rect">
            <a:avLst/>
          </a:prstGeom>
        </p:spPr>
      </p:pic>
      <p:sp>
        <p:nvSpPr>
          <p:cNvPr id="5" name="Rounded Rectangle 4"/>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Thiagarajar College (Autonomous) - Department of Computer Science</a:t>
            </a:r>
          </a:p>
          <a:p>
            <a:pPr>
              <a:spcAft>
                <a:spcPts val="500"/>
              </a:spcAft>
              <a:defRPr sz="1400">
                <a:solidFill>
                  <a:srgbClr val="334155"/>
                </a:solidFill>
              </a:defRPr>
            </a:pPr>
            <a:r>
              <a:t>• Re-Accredited with 'A++' Grade by NAAC | Ranked 20th in NIRF 2025 | Madurai - 625009</a:t>
            </a:r>
          </a:p>
          <a:p>
            <a:pPr>
              <a:spcAft>
                <a:spcPts val="500"/>
              </a:spcAft>
              <a:defRPr sz="1400">
                <a:solidFill>
                  <a:srgbClr val="334155"/>
                </a:solidFill>
              </a:defRPr>
            </a:pPr>
            <a:r>
              <a:t>• </a:t>
            </a:r>
          </a:p>
          <a:p>
            <a:pPr>
              <a:spcAft>
                <a:spcPts val="500"/>
              </a:spcAft>
              <a:defRPr sz="1400">
                <a:solidFill>
                  <a:srgbClr val="334155"/>
                </a:solidFill>
              </a:defRPr>
            </a:pPr>
            <a:r>
              <a:t>• This is to certify that 'SECURE CHIT: DIGITAL CHIT FUND MANAGEMENT SYSTEM' is a bonafide project work done by R. NARESHKUMAR (24UCS08) and APR. JEGATHEESH VARSHAN (24UCS06) of B.Sc. Computer Science during the fifth semester.</a:t>
            </a:r>
          </a:p>
          <a:p>
            <a:pPr>
              <a:spcAft>
                <a:spcPts val="500"/>
              </a:spcAft>
              <a:defRPr sz="1400">
                <a:solidFill>
                  <a:srgbClr val="334155"/>
                </a:solidFill>
              </a:defRPr>
            </a:pPr>
            <a:r>
              <a:t>• </a:t>
            </a:r>
          </a:p>
          <a:p>
            <a:pPr>
              <a:spcAft>
                <a:spcPts val="500"/>
              </a:spcAft>
              <a:defRPr sz="1400">
                <a:solidFill>
                  <a:srgbClr val="334155"/>
                </a:solidFill>
              </a:defRPr>
            </a:pPr>
            <a:r>
              <a:t>• Submitted for the final viva voce examination held on _________________________.</a:t>
            </a:r>
          </a:p>
          <a:p>
            <a:pPr>
              <a:spcAft>
                <a:spcPts val="500"/>
              </a:spcAft>
              <a:defRPr sz="1400">
                <a:solidFill>
                  <a:srgbClr val="334155"/>
                </a:solidFill>
              </a:defRPr>
            </a:pPr>
            <a:r>
              <a:t>• </a:t>
            </a:r>
          </a:p>
          <a:p>
            <a:pPr>
              <a:spcAft>
                <a:spcPts val="500"/>
              </a:spcAft>
              <a:defRPr sz="1400">
                <a:solidFill>
                  <a:srgbClr val="334155"/>
                </a:solidFill>
              </a:defRPr>
            </a:pPr>
            <a:r>
              <a:t>• Project Guide: Mrs. S. M. Valli B.E., M.C.A., M.Phil</a:t>
            </a:r>
          </a:p>
          <a:p>
            <a:pPr>
              <a:spcAft>
                <a:spcPts val="500"/>
              </a:spcAft>
              <a:defRPr sz="1400">
                <a:solidFill>
                  <a:srgbClr val="334155"/>
                </a:solidFill>
              </a:defRPr>
            </a:pPr>
            <a:r>
              <a:t>• Head of Department: Mrs. S. M. Valli B.E., M.C.A., M.Phil</a:t>
            </a:r>
          </a:p>
          <a:p>
            <a:pPr>
              <a:spcAft>
                <a:spcPts val="500"/>
              </a:spcAft>
              <a:defRPr sz="1400">
                <a:solidFill>
                  <a:srgbClr val="334155"/>
                </a:solidFill>
              </a:defRPr>
            </a:pPr>
            <a:r>
              <a:t>• External Examiner: _________________________</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SECURE CHIT FUND MANAGEMENT SYSTEM</a:t>
            </a:r>
          </a:p>
          <a:p>
            <a:pPr>
              <a:defRPr sz="2400" b="1">
                <a:solidFill>
                  <a:srgbClr val="103C58"/>
                </a:solidFill>
              </a:defRPr>
            </a:pPr>
            <a:r>
              <a:t>CANDIDATE DECLARATIONS</a:t>
            </a:r>
          </a:p>
        </p:txBody>
      </p:sp>
      <p:sp>
        <p:nvSpPr>
          <p:cNvPr id="4" name="Rounded Rectangle 3"/>
          <p:cNvSpPr/>
          <p:nvPr/>
        </p:nvSpPr>
        <p:spPr>
          <a:xfrm>
            <a:off x="7315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Declaration 1: R. Nareshkumar</a:t>
            </a:r>
          </a:p>
          <a:p>
            <a:pPr>
              <a:spcAft>
                <a:spcPts val="500"/>
              </a:spcAft>
              <a:defRPr sz="1200">
                <a:solidFill>
                  <a:srgbClr val="334155"/>
                </a:solidFill>
              </a:defRPr>
            </a:pPr>
            <a:r>
              <a:t>• Roll No: 24UCS08</a:t>
            </a:r>
          </a:p>
          <a:p>
            <a:pPr>
              <a:spcAft>
                <a:spcPts val="500"/>
              </a:spcAft>
              <a:defRPr sz="1200">
                <a:solidFill>
                  <a:srgbClr val="334155"/>
                </a:solidFill>
              </a:defRPr>
            </a:pPr>
            <a:r>
              <a:t>• Degree: B.Sc. Computer Science</a:t>
            </a:r>
          </a:p>
          <a:p>
            <a:pPr>
              <a:spcAft>
                <a:spcPts val="500"/>
              </a:spcAft>
              <a:defRPr sz="1200">
                <a:solidFill>
                  <a:srgbClr val="334155"/>
                </a:solidFill>
              </a:defRPr>
            </a:pPr>
            <a:r>
              <a:t>• Institution: Thiagarajar College (Autonomous), Madurai</a:t>
            </a:r>
          </a:p>
          <a:p>
            <a:pPr>
              <a:spcAft>
                <a:spcPts val="500"/>
              </a:spcAft>
              <a:defRPr sz="1200">
                <a:solidFill>
                  <a:srgbClr val="334155"/>
                </a:solidFill>
              </a:defRPr>
            </a:pPr>
            <a:r>
              <a:t>• </a:t>
            </a:r>
          </a:p>
          <a:p>
            <a:pPr>
              <a:spcAft>
                <a:spcPts val="500"/>
              </a:spcAft>
              <a:defRPr sz="1200">
                <a:solidFill>
                  <a:srgbClr val="334155"/>
                </a:solidFill>
              </a:defRPr>
            </a:pPr>
            <a:r>
              <a:t>• I hereby declare that the software product 'SECURE CHIT' has been done thoroughly at the outset of my knowledge and has not been drafted out to any other modes of information. This software has been purely done by me.</a:t>
            </a:r>
          </a:p>
          <a:p>
            <a:pPr>
              <a:spcAft>
                <a:spcPts val="500"/>
              </a:spcAft>
              <a:defRPr sz="1200">
                <a:solidFill>
                  <a:srgbClr val="334155"/>
                </a:solidFill>
              </a:defRPr>
            </a:pPr>
            <a:r>
              <a:t>• </a:t>
            </a:r>
          </a:p>
          <a:p>
            <a:pPr>
              <a:spcAft>
                <a:spcPts val="500"/>
              </a:spcAft>
              <a:defRPr sz="1200">
                <a:solidFill>
                  <a:srgbClr val="334155"/>
                </a:solidFill>
              </a:defRPr>
            </a:pPr>
            <a:r>
              <a:t>• Place: Madurai</a:t>
            </a:r>
          </a:p>
          <a:p>
            <a:pPr>
              <a:spcAft>
                <a:spcPts val="500"/>
              </a:spcAft>
              <a:defRPr sz="1200">
                <a:solidFill>
                  <a:srgbClr val="334155"/>
                </a:solidFill>
              </a:defRPr>
            </a:pPr>
            <a:r>
              <a:t>• Date: </a:t>
            </a:r>
          </a:p>
          <a:p>
            <a:pPr>
              <a:spcAft>
                <a:spcPts val="500"/>
              </a:spcAft>
              <a:defRPr sz="1200">
                <a:solidFill>
                  <a:srgbClr val="334155"/>
                </a:solidFill>
              </a:defRPr>
            </a:pPr>
            <a:r>
              <a:t>• Signature: R. Nareshkumar</a:t>
            </a:r>
          </a:p>
        </p:txBody>
      </p:sp>
      <p:sp>
        <p:nvSpPr>
          <p:cNvPr id="5" name="Rounded Rectangle 4"/>
          <p:cNvSpPr/>
          <p:nvPr/>
        </p:nvSpPr>
        <p:spPr>
          <a:xfrm>
            <a:off x="62179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Declaration 2: APR. Jegatheesh Varshan</a:t>
            </a:r>
          </a:p>
          <a:p>
            <a:pPr>
              <a:spcAft>
                <a:spcPts val="500"/>
              </a:spcAft>
              <a:defRPr sz="1200">
                <a:solidFill>
                  <a:srgbClr val="334155"/>
                </a:solidFill>
              </a:defRPr>
            </a:pPr>
            <a:r>
              <a:t>• Roll No: 24UCS06</a:t>
            </a:r>
          </a:p>
          <a:p>
            <a:pPr>
              <a:spcAft>
                <a:spcPts val="500"/>
              </a:spcAft>
              <a:defRPr sz="1200">
                <a:solidFill>
                  <a:srgbClr val="334155"/>
                </a:solidFill>
              </a:defRPr>
            </a:pPr>
            <a:r>
              <a:t>• Degree: B.Sc. Computer Science</a:t>
            </a:r>
          </a:p>
          <a:p>
            <a:pPr>
              <a:spcAft>
                <a:spcPts val="500"/>
              </a:spcAft>
              <a:defRPr sz="1200">
                <a:solidFill>
                  <a:srgbClr val="334155"/>
                </a:solidFill>
              </a:defRPr>
            </a:pPr>
            <a:r>
              <a:t>• Institution: Thiagarajar College (Autonomous), Madurai</a:t>
            </a:r>
          </a:p>
          <a:p>
            <a:pPr>
              <a:spcAft>
                <a:spcPts val="500"/>
              </a:spcAft>
              <a:defRPr sz="1200">
                <a:solidFill>
                  <a:srgbClr val="334155"/>
                </a:solidFill>
              </a:defRPr>
            </a:pPr>
            <a:r>
              <a:t>• </a:t>
            </a:r>
          </a:p>
          <a:p>
            <a:pPr>
              <a:spcAft>
                <a:spcPts val="500"/>
              </a:spcAft>
              <a:defRPr sz="1200">
                <a:solidFill>
                  <a:srgbClr val="334155"/>
                </a:solidFill>
              </a:defRPr>
            </a:pPr>
            <a:r>
              <a:t>• I hereby declare that the software product 'SECURE CHIT' has been done thoroughly at the outset of my knowledge and has not been drafted out to any other modes of information. This software has been purely done by me.</a:t>
            </a:r>
          </a:p>
          <a:p>
            <a:pPr>
              <a:spcAft>
                <a:spcPts val="500"/>
              </a:spcAft>
              <a:defRPr sz="1200">
                <a:solidFill>
                  <a:srgbClr val="334155"/>
                </a:solidFill>
              </a:defRPr>
            </a:pPr>
            <a:r>
              <a:t>• </a:t>
            </a:r>
          </a:p>
          <a:p>
            <a:pPr>
              <a:spcAft>
                <a:spcPts val="500"/>
              </a:spcAft>
              <a:defRPr sz="1200">
                <a:solidFill>
                  <a:srgbClr val="334155"/>
                </a:solidFill>
              </a:defRPr>
            </a:pPr>
            <a:r>
              <a:t>• Place: Madurai</a:t>
            </a:r>
          </a:p>
          <a:p>
            <a:pPr>
              <a:spcAft>
                <a:spcPts val="500"/>
              </a:spcAft>
              <a:defRPr sz="1200">
                <a:solidFill>
                  <a:srgbClr val="334155"/>
                </a:solidFill>
              </a:defRPr>
            </a:pPr>
            <a:r>
              <a:t>• Date: </a:t>
            </a:r>
          </a:p>
          <a:p>
            <a:pPr>
              <a:spcAft>
                <a:spcPts val="500"/>
              </a:spcAft>
              <a:defRPr sz="1200">
                <a:solidFill>
                  <a:srgbClr val="334155"/>
                </a:solidFill>
              </a:defRPr>
            </a:pPr>
            <a:r>
              <a:t>• Signature: APR. Jegatheesh Varshan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SECURE CHIT FUND MANAGEMENT SYSTEM</a:t>
            </a:r>
          </a:p>
          <a:p>
            <a:pPr>
              <a:defRPr sz="2400" b="1">
                <a:solidFill>
                  <a:srgbClr val="103C58"/>
                </a:solidFill>
              </a:defRPr>
            </a:pPr>
            <a:r>
              <a:t>ACKNOWLEDGEMENT</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Expressing Our Gratitude</a:t>
            </a:r>
          </a:p>
          <a:p>
            <a:pPr>
              <a:spcAft>
                <a:spcPts val="500"/>
              </a:spcAft>
              <a:defRPr sz="1300">
                <a:solidFill>
                  <a:srgbClr val="334155"/>
                </a:solidFill>
              </a:defRPr>
            </a:pPr>
            <a:r>
              <a:t>• We extend our sincere thanks to Almighty for giving us physical, mental strength and ability for the effective completion of this project.</a:t>
            </a:r>
          </a:p>
          <a:p>
            <a:pPr>
              <a:spcAft>
                <a:spcPts val="500"/>
              </a:spcAft>
              <a:defRPr sz="1300">
                <a:solidFill>
                  <a:srgbClr val="334155"/>
                </a:solidFill>
              </a:defRPr>
            </a:pPr>
            <a:r>
              <a:t>• </a:t>
            </a:r>
          </a:p>
          <a:p>
            <a:pPr>
              <a:spcAft>
                <a:spcPts val="500"/>
              </a:spcAft>
              <a:defRPr sz="1300">
                <a:solidFill>
                  <a:srgbClr val="334155"/>
                </a:solidFill>
              </a:defRPr>
            </a:pPr>
            <a:r>
              <a:t>• We express our deep gratitude to Principal Dr. D. PANDIARAJA M.Sc., M.Phil., P.G.D.C.A., B.Ed., Ph.D., Thiagarajar College, Madurai for his encouragement.</a:t>
            </a:r>
          </a:p>
          <a:p>
            <a:pPr>
              <a:spcAft>
                <a:spcPts val="500"/>
              </a:spcAft>
              <a:defRPr sz="1300">
                <a:solidFill>
                  <a:srgbClr val="334155"/>
                </a:solidFill>
              </a:defRPr>
            </a:pPr>
            <a:r>
              <a:t>• </a:t>
            </a:r>
          </a:p>
          <a:p>
            <a:pPr>
              <a:spcAft>
                <a:spcPts val="500"/>
              </a:spcAft>
              <a:defRPr sz="1300">
                <a:solidFill>
                  <a:srgbClr val="334155"/>
                </a:solidFill>
              </a:defRPr>
            </a:pPr>
            <a:r>
              <a:t>• We express our profound gratitude to Head of Department Mrs. S. M. VALLI B.E., M.C.A., M.Phil for her immense guidance and support.</a:t>
            </a:r>
          </a:p>
          <a:p>
            <a:pPr>
              <a:spcAft>
                <a:spcPts val="500"/>
              </a:spcAft>
              <a:defRPr sz="1300">
                <a:solidFill>
                  <a:srgbClr val="334155"/>
                </a:solidFill>
              </a:defRPr>
            </a:pPr>
            <a:r>
              <a:t>• </a:t>
            </a:r>
          </a:p>
          <a:p>
            <a:pPr>
              <a:spcAft>
                <a:spcPts val="500"/>
              </a:spcAft>
              <a:defRPr sz="1300">
                <a:solidFill>
                  <a:srgbClr val="334155"/>
                </a:solidFill>
              </a:defRPr>
            </a:pPr>
            <a:r>
              <a:t>• We extend our sincere thanks to Project Guide Mrs. S. M. VALLI B.E., M.C.A., M.Phil for entrusting us with this project and guiding us.</a:t>
            </a:r>
          </a:p>
          <a:p>
            <a:pPr>
              <a:spcAft>
                <a:spcPts val="500"/>
              </a:spcAft>
              <a:defRPr sz="1300">
                <a:solidFill>
                  <a:srgbClr val="334155"/>
                </a:solidFill>
              </a:defRPr>
            </a:pPr>
            <a:r>
              <a:t>• </a:t>
            </a:r>
          </a:p>
          <a:p>
            <a:pPr>
              <a:spcAft>
                <a:spcPts val="500"/>
              </a:spcAft>
              <a:defRPr sz="1300">
                <a:solidFill>
                  <a:srgbClr val="334155"/>
                </a:solidFill>
              </a:defRPr>
            </a:pPr>
            <a:r>
              <a:t>• We thank all faculty members of Computer Science department, our family members and friends for their continuous support.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SECURE CHIT FUND MANAGEMENT SYSTEM</a:t>
            </a:r>
          </a:p>
          <a:p>
            <a:pPr>
              <a:defRPr sz="2400" b="1">
                <a:solidFill>
                  <a:srgbClr val="103C58"/>
                </a:solidFill>
              </a:defRPr>
            </a:pPr>
            <a:r>
              <a:t>TABLE OF CONTENTS</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Index of Report Chapters (Sections 1, 2, 3, 4, 8, 9, 10)</a:t>
            </a:r>
          </a:p>
          <a:p>
            <a:pPr>
              <a:spcAft>
                <a:spcPts val="500"/>
              </a:spcAft>
              <a:defRPr sz="1400">
                <a:solidFill>
                  <a:srgbClr val="334155"/>
                </a:solidFill>
              </a:defRPr>
            </a:pPr>
            <a:r>
              <a:t>• SECTION 1: INTRODUCTION (1.1 Abstract, 1.2 Project Description, 1.3 Scope)</a:t>
            </a:r>
          </a:p>
          <a:p>
            <a:pPr>
              <a:spcAft>
                <a:spcPts val="500"/>
              </a:spcAft>
              <a:defRPr sz="1400">
                <a:solidFill>
                  <a:srgbClr val="334155"/>
                </a:solidFill>
              </a:defRPr>
            </a:pPr>
            <a:r>
              <a:t>• SECTION 2: SYSTEM ANALYSIS (2.1 Existing System, 2.2 Proposed System, 2.3 Feasibility)</a:t>
            </a:r>
          </a:p>
          <a:p>
            <a:pPr>
              <a:spcAft>
                <a:spcPts val="500"/>
              </a:spcAft>
              <a:defRPr sz="1400">
                <a:solidFill>
                  <a:srgbClr val="334155"/>
                </a:solidFill>
              </a:defRPr>
            </a:pPr>
            <a:r>
              <a:t>• SECTION 3: SYSTEM CONFIGURATION (3.1 Hardware Specs, 3.2 Software Specs, 3.3 Technologies)</a:t>
            </a:r>
          </a:p>
          <a:p>
            <a:pPr>
              <a:spcAft>
                <a:spcPts val="500"/>
              </a:spcAft>
              <a:defRPr sz="1400">
                <a:solidFill>
                  <a:srgbClr val="334155"/>
                </a:solidFill>
              </a:defRPr>
            </a:pPr>
            <a:r>
              <a:t>• SECTION 4: SYSTEM DESIGN (4.1 Architecture, 4.2 Data Flow Diagram DFD, 4.3 Database Schema, 4.4 Module Design)</a:t>
            </a:r>
          </a:p>
          <a:p>
            <a:pPr>
              <a:spcAft>
                <a:spcPts val="500"/>
              </a:spcAft>
              <a:defRPr sz="1400">
                <a:solidFill>
                  <a:srgbClr val="334155"/>
                </a:solidFill>
              </a:defRPr>
            </a:pPr>
            <a:r>
              <a:t>• SECTION 8: CONCLUSION (Summary &amp; Impact)</a:t>
            </a:r>
          </a:p>
          <a:p>
            <a:pPr>
              <a:spcAft>
                <a:spcPts val="500"/>
              </a:spcAft>
              <a:defRPr sz="1400">
                <a:solidFill>
                  <a:srgbClr val="334155"/>
                </a:solidFill>
              </a:defRPr>
            </a:pPr>
            <a:r>
              <a:t>• SECTION 9: FUTURE ENHANCEMENTS (Mobile App, AI Analytics, Biometrics)</a:t>
            </a:r>
          </a:p>
          <a:p>
            <a:pPr>
              <a:spcAft>
                <a:spcPts val="500"/>
              </a:spcAft>
              <a:defRPr sz="1400">
                <a:solidFill>
                  <a:srgbClr val="334155"/>
                </a:solidFill>
              </a:defRPr>
            </a:pPr>
            <a:r>
              <a:t>• SECTION 10: BIBLIOGRAPHY (Book &amp; Website References)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1: INTRODUCTION</a:t>
            </a:r>
          </a:p>
          <a:p>
            <a:pPr>
              <a:defRPr sz="2400" b="1">
                <a:solidFill>
                  <a:srgbClr val="103C58"/>
                </a:solidFill>
              </a:defRPr>
            </a:pPr>
            <a:r>
              <a:t>1.1 ABSTRACT</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Secure Chit Fund Management System</a:t>
            </a:r>
          </a:p>
          <a:p>
            <a:pPr>
              <a:spcAft>
                <a:spcPts val="500"/>
              </a:spcAft>
              <a:defRPr sz="1300">
                <a:solidFill>
                  <a:srgbClr val="334155"/>
                </a:solidFill>
              </a:defRPr>
            </a:pPr>
            <a:r>
              <a:t>• Web-based financial management application designed to automate traditional chit fund operations with complete transparency and security.</a:t>
            </a:r>
          </a:p>
          <a:p>
            <a:pPr>
              <a:spcAft>
                <a:spcPts val="500"/>
              </a:spcAft>
              <a:defRPr sz="1300">
                <a:solidFill>
                  <a:srgbClr val="334155"/>
                </a:solidFill>
              </a:defRPr>
            </a:pPr>
            <a:r>
              <a:t>• Features Razorpay payment gateway for online installment payments with instant printable Digital Receipts.</a:t>
            </a:r>
          </a:p>
          <a:p>
            <a:pPr>
              <a:spcAft>
                <a:spcPts val="500"/>
              </a:spcAft>
              <a:defRPr sz="1300">
                <a:solidFill>
                  <a:srgbClr val="334155"/>
                </a:solidFill>
              </a:defRPr>
            </a:pPr>
            <a:r>
              <a:t>• AI-powered smart winner allocation engine that evaluates emergency priorities to select auction winners fairly.</a:t>
            </a:r>
          </a:p>
          <a:p>
            <a:pPr>
              <a:spcAft>
                <a:spcPts val="500"/>
              </a:spcAft>
              <a:defRPr sz="1300">
                <a:solidFill>
                  <a:srgbClr val="334155"/>
                </a:solidFill>
              </a:defRPr>
            </a:pPr>
            <a:r>
              <a:t>• Role-Based Access Control (RBAC) web portals for Members and Administrators with full ledger auditability.</a:t>
            </a:r>
          </a:p>
          <a:p>
            <a:pPr>
              <a:spcAft>
                <a:spcPts val="500"/>
              </a:spcAft>
              <a:defRPr sz="1300">
                <a:solidFill>
                  <a:srgbClr val="334155"/>
                </a:solidFill>
              </a:defRPr>
            </a:pPr>
            <a:r>
              <a:t>• HTML5 Canvas API integration for Promissory Note digital signatures and auto-generated legal document persistence.</a:t>
            </a:r>
          </a:p>
          <a:p>
            <a:pPr>
              <a:spcAft>
                <a:spcPts val="500"/>
              </a:spcAft>
              <a:defRPr sz="1300">
                <a:solidFill>
                  <a:srgbClr val="334155"/>
                </a:solidFill>
              </a:defRPr>
            </a:pPr>
            <a:r>
              <a:t>• Automated multi-channel Fast2SMS and Nodemailer SMTP notification gateway for due alerts.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1: INTRODUCTION</a:t>
            </a:r>
          </a:p>
          <a:p>
            <a:pPr>
              <a:defRPr sz="2400" b="1">
                <a:solidFill>
                  <a:srgbClr val="103C58"/>
                </a:solidFill>
              </a:defRPr>
            </a:pPr>
            <a:r>
              <a:t>1.2 PROJECT DESCRIPTION &amp; OBJECTIVES</a:t>
            </a:r>
          </a:p>
        </p:txBody>
      </p:sp>
      <p:sp>
        <p:nvSpPr>
          <p:cNvPr id="4" name="Rounded Rectangle 3"/>
          <p:cNvSpPr/>
          <p:nvPr/>
        </p:nvSpPr>
        <p:spPr>
          <a:xfrm>
            <a:off x="7315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Project Overview</a:t>
            </a:r>
          </a:p>
          <a:p>
            <a:pPr>
              <a:spcAft>
                <a:spcPts val="500"/>
              </a:spcAft>
              <a:defRPr sz="1300">
                <a:solidFill>
                  <a:srgbClr val="334155"/>
                </a:solidFill>
              </a:defRPr>
            </a:pPr>
            <a:r>
              <a:t>• Centralized digital platform managing member profiles, chit schemes, auction bidding, and installment collections.</a:t>
            </a:r>
          </a:p>
          <a:p>
            <a:pPr>
              <a:spcAft>
                <a:spcPts val="500"/>
              </a:spcAft>
              <a:defRPr sz="1300">
                <a:solidFill>
                  <a:srgbClr val="334155"/>
                </a:solidFill>
              </a:defRPr>
            </a:pPr>
            <a:r>
              <a:t>• Automates monthly draw execution, bid discount calculation, and equal dividend distribution among active members.</a:t>
            </a:r>
          </a:p>
          <a:p>
            <a:pPr>
              <a:spcAft>
                <a:spcPts val="500"/>
              </a:spcAft>
              <a:defRPr sz="1300">
                <a:solidFill>
                  <a:srgbClr val="334155"/>
                </a:solidFill>
              </a:defRPr>
            </a:pPr>
            <a:r>
              <a:t>• Integrated communication engine sending SMS and Email alerts for payment due dates and winning notifications.</a:t>
            </a:r>
          </a:p>
          <a:p>
            <a:pPr>
              <a:spcAft>
                <a:spcPts val="500"/>
              </a:spcAft>
              <a:defRPr sz="1300">
                <a:solidFill>
                  <a:srgbClr val="334155"/>
                </a:solidFill>
              </a:defRPr>
            </a:pPr>
            <a:r>
              <a:t>• Secure database engine enforcing data privacy, non-repudiation, and financial consistency.</a:t>
            </a:r>
          </a:p>
        </p:txBody>
      </p:sp>
      <p:sp>
        <p:nvSpPr>
          <p:cNvPr id="5" name="Rounded Rectangle 4"/>
          <p:cNvSpPr/>
          <p:nvPr/>
        </p:nvSpPr>
        <p:spPr>
          <a:xfrm>
            <a:off x="62179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Core Objectives</a:t>
            </a:r>
          </a:p>
          <a:p>
            <a:pPr>
              <a:spcAft>
                <a:spcPts val="500"/>
              </a:spcAft>
              <a:defRPr sz="1300">
                <a:solidFill>
                  <a:srgbClr val="334155"/>
                </a:solidFill>
              </a:defRPr>
            </a:pPr>
            <a:r>
              <a:t>• 1. Eliminate Manual Paperwork: Digitally manage chit groups, member ledgers, and auction records.</a:t>
            </a:r>
          </a:p>
          <a:p>
            <a:pPr>
              <a:spcAft>
                <a:spcPts val="500"/>
              </a:spcAft>
              <a:defRPr sz="1300">
                <a:solidFill>
                  <a:srgbClr val="334155"/>
                </a:solidFill>
              </a:defRPr>
            </a:pPr>
            <a:r>
              <a:t>• 2. Ensure 100% Financial Transparency: Members can independently verify pool amounts, bid discounts, and dividend payouts.</a:t>
            </a:r>
          </a:p>
          <a:p>
            <a:pPr>
              <a:spcAft>
                <a:spcPts val="500"/>
              </a:spcAft>
              <a:defRPr sz="1300">
                <a:solidFill>
                  <a:srgbClr val="334155"/>
                </a:solidFill>
              </a:defRPr>
            </a:pPr>
            <a:r>
              <a:t>• 3. Automate Auction Bidding: Provide transparent live bidding with automated winning calculation.</a:t>
            </a:r>
          </a:p>
          <a:p>
            <a:pPr>
              <a:spcAft>
                <a:spcPts val="500"/>
              </a:spcAft>
              <a:defRPr sz="1300">
                <a:solidFill>
                  <a:srgbClr val="334155"/>
                </a:solidFill>
              </a:defRPr>
            </a:pPr>
            <a:r>
              <a:t>• 4. Streamline Payment Tracking: Automated installment receipts, online verification, and automated due reminders.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1: INTRODUCTION</a:t>
            </a:r>
          </a:p>
          <a:p>
            <a:pPr>
              <a:defRPr sz="2400" b="1">
                <a:solidFill>
                  <a:srgbClr val="103C58"/>
                </a:solidFill>
              </a:defRPr>
            </a:pPr>
            <a:r>
              <a:t>1.3 SYSTEM SCOPE &amp; STAKEHOLDERS</a:t>
            </a:r>
          </a:p>
        </p:txBody>
      </p:sp>
      <p:sp>
        <p:nvSpPr>
          <p:cNvPr id="4" name="Rounded Rectangle 3"/>
          <p:cNvSpPr/>
          <p:nvPr/>
        </p:nvSpPr>
        <p:spPr>
          <a:xfrm>
            <a:off x="7315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System Scope</a:t>
            </a:r>
          </a:p>
          <a:p>
            <a:pPr>
              <a:spcAft>
                <a:spcPts val="500"/>
              </a:spcAft>
              <a:defRPr sz="1300">
                <a:solidFill>
                  <a:srgbClr val="334155"/>
                </a:solidFill>
              </a:defRPr>
            </a:pPr>
            <a:r>
              <a:t>• Applies to financial institutions, private chit companies, and community savings groups.</a:t>
            </a:r>
          </a:p>
          <a:p>
            <a:pPr>
              <a:spcAft>
                <a:spcPts val="500"/>
              </a:spcAft>
              <a:defRPr sz="1300">
                <a:solidFill>
                  <a:srgbClr val="334155"/>
                </a:solidFill>
              </a:defRPr>
            </a:pPr>
            <a:r>
              <a:t>• Handles multi-scheme management (e.g. Rs 50,000 / 10 months, Rs 1,00,000 / 20 months).</a:t>
            </a:r>
          </a:p>
          <a:p>
            <a:pPr>
              <a:spcAft>
                <a:spcPts val="500"/>
              </a:spcAft>
              <a:defRPr sz="1300">
                <a:solidFill>
                  <a:srgbClr val="334155"/>
                </a:solidFill>
              </a:defRPr>
            </a:pPr>
            <a:r>
              <a:t>• Covers member registration, KYC data, auction management, dividend calculation, and payment status updates.</a:t>
            </a:r>
          </a:p>
          <a:p>
            <a:pPr>
              <a:spcAft>
                <a:spcPts val="500"/>
              </a:spcAft>
              <a:defRPr sz="1300">
                <a:solidFill>
                  <a:srgbClr val="334155"/>
                </a:solidFill>
              </a:defRPr>
            </a:pPr>
            <a:r>
              <a:t>• Scalable architecture adaptable for expanding subscriber capacity and cloud deployment.</a:t>
            </a:r>
          </a:p>
        </p:txBody>
      </p:sp>
      <p:sp>
        <p:nvSpPr>
          <p:cNvPr id="5" name="Rounded Rectangle 4"/>
          <p:cNvSpPr/>
          <p:nvPr/>
        </p:nvSpPr>
        <p:spPr>
          <a:xfrm>
            <a:off x="62179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Stakeholders</a:t>
            </a:r>
          </a:p>
          <a:p>
            <a:pPr>
              <a:spcAft>
                <a:spcPts val="500"/>
              </a:spcAft>
              <a:defRPr sz="1300">
                <a:solidFill>
                  <a:srgbClr val="334155"/>
                </a:solidFill>
              </a:defRPr>
            </a:pPr>
            <a:r>
              <a:t>• Admin / Chit Foreman:</a:t>
            </a:r>
          </a:p>
          <a:p>
            <a:pPr>
              <a:spcAft>
                <a:spcPts val="500"/>
              </a:spcAft>
              <a:defRPr sz="1300">
                <a:solidFill>
                  <a:srgbClr val="334155"/>
                </a:solidFill>
              </a:defRPr>
            </a:pPr>
            <a:r>
              <a:t>     - Creates chit schemes, approves member registrations, supervises monthly auctions, verifies installment payments.</a:t>
            </a:r>
          </a:p>
          <a:p>
            <a:pPr>
              <a:spcAft>
                <a:spcPts val="500"/>
              </a:spcAft>
              <a:defRPr sz="1300">
                <a:solidFill>
                  <a:srgbClr val="334155"/>
                </a:solidFill>
              </a:defRPr>
            </a:pPr>
            <a:r>
              <a:t>• Members / Subscribers:</a:t>
            </a:r>
          </a:p>
          <a:p>
            <a:pPr>
              <a:spcAft>
                <a:spcPts val="500"/>
              </a:spcAft>
              <a:defRPr sz="1300">
                <a:solidFill>
                  <a:srgbClr val="334155"/>
                </a:solidFill>
              </a:defRPr>
            </a:pPr>
            <a:r>
              <a:t>     - Explores active chit plans, submits auction bids, views dividend statements, receives automated reminders.</a:t>
            </a:r>
          </a:p>
          <a:p>
            <a:pPr>
              <a:spcAft>
                <a:spcPts val="500"/>
              </a:spcAft>
              <a:defRPr sz="1300">
                <a:solidFill>
                  <a:srgbClr val="334155"/>
                </a:solidFill>
              </a:defRPr>
            </a:pPr>
            <a:r>
              <a:t>• System Communication Engine:</a:t>
            </a:r>
          </a:p>
          <a:p>
            <a:pPr>
              <a:spcAft>
                <a:spcPts val="500"/>
              </a:spcAft>
              <a:defRPr sz="1300">
                <a:solidFill>
                  <a:srgbClr val="334155"/>
                </a:solidFill>
              </a:defRPr>
            </a:pPr>
            <a:r>
              <a:t>     - Dispatches automated SMS via Fast2SMS API and Email notifications via SMTP/Nodemailer.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2: SYSTEM ANALYSIS</a:t>
            </a:r>
          </a:p>
          <a:p>
            <a:pPr>
              <a:defRPr sz="2400" b="1">
                <a:solidFill>
                  <a:srgbClr val="103C58"/>
                </a:solidFill>
              </a:defRPr>
            </a:pPr>
            <a:r>
              <a:t>2.1 EXISTING SYSTEM ANALYSIS</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Drawbacks of Traditional Manual Chit Fund Management</a:t>
            </a:r>
          </a:p>
          <a:p>
            <a:pPr>
              <a:spcAft>
                <a:spcPts val="500"/>
              </a:spcAft>
              <a:defRPr sz="1300">
                <a:solidFill>
                  <a:srgbClr val="334155"/>
                </a:solidFill>
              </a:defRPr>
            </a:pPr>
            <a:r>
              <a:t>• 1. Manual Ledger Maintenance: High dependency on paper logbooks leading to data loss, physical damage, and ledger discrepancy.</a:t>
            </a:r>
          </a:p>
          <a:p>
            <a:pPr>
              <a:spcAft>
                <a:spcPts val="500"/>
              </a:spcAft>
              <a:defRPr sz="1300">
                <a:solidFill>
                  <a:srgbClr val="334155"/>
                </a:solidFill>
              </a:defRPr>
            </a:pPr>
            <a:r>
              <a:t>• 2. Lack of Transparency: Members cannot verify dividend calculations or exact bidding history, creating trust deficits.</a:t>
            </a:r>
          </a:p>
          <a:p>
            <a:pPr>
              <a:spcAft>
                <a:spcPts val="500"/>
              </a:spcAft>
              <a:defRPr sz="1300">
                <a:solidFill>
                  <a:srgbClr val="334155"/>
                </a:solidFill>
              </a:defRPr>
            </a:pPr>
            <a:r>
              <a:t>• 3. Delayed Reminders &amp; Default Risk: Manual notification via phone calls is slow, causing missed monthly installment payments.</a:t>
            </a:r>
          </a:p>
          <a:p>
            <a:pPr>
              <a:spcAft>
                <a:spcPts val="500"/>
              </a:spcAft>
              <a:defRPr sz="1300">
                <a:solidFill>
                  <a:srgbClr val="334155"/>
                </a:solidFill>
              </a:defRPr>
            </a:pPr>
            <a:r>
              <a:t>• 4. High Operational Overhead: Manual collection, physical passbook entries, and manual calculation of interest/discounts.</a:t>
            </a:r>
          </a:p>
          <a:p>
            <a:pPr>
              <a:spcAft>
                <a:spcPts val="500"/>
              </a:spcAft>
              <a:defRPr sz="1300">
                <a:solidFill>
                  <a:srgbClr val="334155"/>
                </a:solidFill>
              </a:defRPr>
            </a:pPr>
            <a:r>
              <a:t>• 5. Vulnerability to Fraud: Physical records can be altered without audit trails or history tracking.</a:t>
            </a:r>
          </a:p>
          <a:p>
            <a:pPr>
              <a:spcAft>
                <a:spcPts val="500"/>
              </a:spcAft>
              <a:defRPr sz="1300">
                <a:solidFill>
                  <a:srgbClr val="334155"/>
                </a:solidFill>
              </a:defRPr>
            </a:pPr>
            <a:r>
              <a:t>• 6. Geographical Limitation: Members must physically attend auctions and manually hand over payment cash.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2: SYSTEM ANALYSIS</a:t>
            </a:r>
          </a:p>
          <a:p>
            <a:pPr>
              <a:defRPr sz="2400" b="1">
                <a:solidFill>
                  <a:srgbClr val="103C58"/>
                </a:solidFill>
              </a:defRPr>
            </a:pPr>
            <a:r>
              <a:t>2.2 PROPOSED SYSTEM ADVANTAGES</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Advantages of SecureChit Digital Solution</a:t>
            </a:r>
          </a:p>
          <a:p>
            <a:pPr>
              <a:spcAft>
                <a:spcPts val="500"/>
              </a:spcAft>
              <a:defRPr sz="1300">
                <a:solidFill>
                  <a:srgbClr val="334155"/>
                </a:solidFill>
              </a:defRPr>
            </a:pPr>
            <a:r>
              <a:t>• 1. Centralized Cloud Database: Secure storage of member details, chit scheme parameters, and transaction histories in structured DB.</a:t>
            </a:r>
          </a:p>
          <a:p>
            <a:pPr>
              <a:spcAft>
                <a:spcPts val="500"/>
              </a:spcAft>
              <a:defRPr sz="1300">
                <a:solidFill>
                  <a:srgbClr val="334155"/>
                </a:solidFill>
              </a:defRPr>
            </a:pPr>
            <a:r>
              <a:t>• 2. Automated Auction &amp; Dividend Engine: Instant, accurate computation of minimum bid, discount, foreman commission, and dividend share.</a:t>
            </a:r>
          </a:p>
          <a:p>
            <a:pPr>
              <a:spcAft>
                <a:spcPts val="500"/>
              </a:spcAft>
              <a:defRPr sz="1300">
                <a:solidFill>
                  <a:srgbClr val="334155"/>
                </a:solidFill>
              </a:defRPr>
            </a:pPr>
            <a:r>
              <a:t>• 3. Multi-Channel Communication: Automated SMS alerts to mobile numbers and email notifications for due dates and auction announcements.</a:t>
            </a:r>
          </a:p>
          <a:p>
            <a:pPr>
              <a:spcAft>
                <a:spcPts val="500"/>
              </a:spcAft>
              <a:defRPr sz="1300">
                <a:solidFill>
                  <a:srgbClr val="334155"/>
                </a:solidFill>
              </a:defRPr>
            </a:pPr>
            <a:r>
              <a:t>• 4. Real-time Member Dashboards: 24/7 access for subscribers to view active dues, payment logs, upcoming auctions, and overall savings.</a:t>
            </a:r>
          </a:p>
          <a:p>
            <a:pPr>
              <a:spcAft>
                <a:spcPts val="500"/>
              </a:spcAft>
              <a:defRPr sz="1300">
                <a:solidFill>
                  <a:srgbClr val="334155"/>
                </a:solidFill>
              </a:defRPr>
            </a:pPr>
            <a:r>
              <a:t>• 5. Tamper-evident Auditability: Every bid entry, payment approval, and scheme status update is logged with exact timestamps.</a:t>
            </a:r>
          </a:p>
          <a:p>
            <a:pPr>
              <a:spcAft>
                <a:spcPts val="500"/>
              </a:spcAft>
              <a:defRPr sz="1300">
                <a:solidFill>
                  <a:srgbClr val="334155"/>
                </a:solidFill>
              </a:defRPr>
            </a:pPr>
            <a:r>
              <a:t>• 6. Reduced Administrative Cost: Minimizes manual paperwork, eliminates physical passbooks, and accelerates monthly processing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2: SYSTEM ANALYSIS</a:t>
            </a:r>
          </a:p>
          <a:p>
            <a:pPr>
              <a:defRPr sz="2400" b="1">
                <a:solidFill>
                  <a:srgbClr val="103C58"/>
                </a:solidFill>
              </a:defRPr>
            </a:pPr>
            <a:r>
              <a:t>2.3 FEASIBILITY STUDY</a:t>
            </a:r>
          </a:p>
        </p:txBody>
      </p:sp>
      <p:sp>
        <p:nvSpPr>
          <p:cNvPr id="4" name="Rounded Rectangle 3"/>
          <p:cNvSpPr/>
          <p:nvPr/>
        </p:nvSpPr>
        <p:spPr>
          <a:xfrm>
            <a:off x="731520" y="1463040"/>
            <a:ext cx="33832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Technical Feasibility</a:t>
            </a:r>
          </a:p>
          <a:p>
            <a:pPr>
              <a:spcAft>
                <a:spcPts val="500"/>
              </a:spcAft>
              <a:defRPr sz="1200">
                <a:solidFill>
                  <a:srgbClr val="334155"/>
                </a:solidFill>
              </a:defRPr>
            </a:pPr>
            <a:r>
              <a:t>• Evaluates system hardware &amp; software stack.</a:t>
            </a:r>
          </a:p>
          <a:p>
            <a:pPr>
              <a:spcAft>
                <a:spcPts val="500"/>
              </a:spcAft>
              <a:defRPr sz="1200">
                <a:solidFill>
                  <a:srgbClr val="334155"/>
                </a:solidFill>
              </a:defRPr>
            </a:pPr>
            <a:r>
              <a:t>• Uses standard React.js, Node.js/Python FastAPI, SQLite/MongoDB.</a:t>
            </a:r>
          </a:p>
          <a:p>
            <a:pPr>
              <a:spcAft>
                <a:spcPts val="500"/>
              </a:spcAft>
              <a:defRPr sz="1200">
                <a:solidFill>
                  <a:srgbClr val="334155"/>
                </a:solidFill>
              </a:defRPr>
            </a:pPr>
            <a:r>
              <a:t>• Low hardware demands, works on standard modern browsers.</a:t>
            </a:r>
          </a:p>
          <a:p>
            <a:pPr>
              <a:spcAft>
                <a:spcPts val="500"/>
              </a:spcAft>
              <a:defRPr sz="1200">
                <a:solidFill>
                  <a:srgbClr val="334155"/>
                </a:solidFill>
              </a:defRPr>
            </a:pPr>
            <a:r>
              <a:t>• Highly feasible.</a:t>
            </a:r>
          </a:p>
        </p:txBody>
      </p:sp>
      <p:sp>
        <p:nvSpPr>
          <p:cNvPr id="5" name="Rounded Rectangle 4"/>
          <p:cNvSpPr/>
          <p:nvPr/>
        </p:nvSpPr>
        <p:spPr>
          <a:xfrm>
            <a:off x="4389120" y="1463040"/>
            <a:ext cx="33832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Operational Feasibility</a:t>
            </a:r>
          </a:p>
          <a:p>
            <a:pPr>
              <a:spcAft>
                <a:spcPts val="500"/>
              </a:spcAft>
              <a:defRPr sz="1200">
                <a:solidFill>
                  <a:srgbClr val="334155"/>
                </a:solidFill>
              </a:defRPr>
            </a:pPr>
            <a:r>
              <a:t>• Assesses ease of adoption by users.</a:t>
            </a:r>
          </a:p>
          <a:p>
            <a:pPr>
              <a:spcAft>
                <a:spcPts val="500"/>
              </a:spcAft>
              <a:defRPr sz="1200">
                <a:solidFill>
                  <a:srgbClr val="334155"/>
                </a:solidFill>
              </a:defRPr>
            </a:pPr>
            <a:r>
              <a:t>• Clean, intuitive web user interface designed for non-technical users.</a:t>
            </a:r>
          </a:p>
          <a:p>
            <a:pPr>
              <a:spcAft>
                <a:spcPts val="500"/>
              </a:spcAft>
              <a:defRPr sz="1200">
                <a:solidFill>
                  <a:srgbClr val="334155"/>
                </a:solidFill>
              </a:defRPr>
            </a:pPr>
            <a:r>
              <a:t>• Automated alerts guide members effortlessly.</a:t>
            </a:r>
          </a:p>
          <a:p>
            <a:pPr>
              <a:spcAft>
                <a:spcPts val="500"/>
              </a:spcAft>
              <a:defRPr sz="1200">
                <a:solidFill>
                  <a:srgbClr val="334155"/>
                </a:solidFill>
              </a:defRPr>
            </a:pPr>
            <a:r>
              <a:t>• Highly feasible.</a:t>
            </a:r>
          </a:p>
        </p:txBody>
      </p:sp>
      <p:sp>
        <p:nvSpPr>
          <p:cNvPr id="6" name="Rounded Rectangle 5"/>
          <p:cNvSpPr/>
          <p:nvPr/>
        </p:nvSpPr>
        <p:spPr>
          <a:xfrm>
            <a:off x="8046720" y="1463040"/>
            <a:ext cx="33832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Economic Feasibility</a:t>
            </a:r>
          </a:p>
          <a:p>
            <a:pPr>
              <a:spcAft>
                <a:spcPts val="500"/>
              </a:spcAft>
              <a:defRPr sz="1200">
                <a:solidFill>
                  <a:srgbClr val="334155"/>
                </a:solidFill>
              </a:defRPr>
            </a:pPr>
            <a:r>
              <a:t>• Analyzes cost vs return.</a:t>
            </a:r>
          </a:p>
          <a:p>
            <a:pPr>
              <a:spcAft>
                <a:spcPts val="500"/>
              </a:spcAft>
              <a:defRPr sz="1200">
                <a:solidFill>
                  <a:srgbClr val="334155"/>
                </a:solidFill>
              </a:defRPr>
            </a:pPr>
            <a:r>
              <a:t>• Built using open-source technologies (React, Node, SQLite/MongoDB).</a:t>
            </a:r>
          </a:p>
          <a:p>
            <a:pPr>
              <a:spcAft>
                <a:spcPts val="500"/>
              </a:spcAft>
              <a:defRPr sz="1200">
                <a:solidFill>
                  <a:srgbClr val="334155"/>
                </a:solidFill>
              </a:defRPr>
            </a:pPr>
            <a:r>
              <a:t>• Zero licensing fees, drastically cuts paper &amp; admin costs.</a:t>
            </a:r>
          </a:p>
          <a:p>
            <a:pPr>
              <a:spcAft>
                <a:spcPts val="500"/>
              </a:spcAft>
              <a:defRPr sz="1200">
                <a:solidFill>
                  <a:srgbClr val="334155"/>
                </a:solidFill>
              </a:defRPr>
            </a:pPr>
            <a:r>
              <a:t>• Highly cost-effective.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3: SYSTEM CONFIGURATION</a:t>
            </a:r>
          </a:p>
          <a:p>
            <a:pPr>
              <a:defRPr sz="2400" b="1">
                <a:solidFill>
                  <a:srgbClr val="103C58"/>
                </a:solidFill>
              </a:defRPr>
            </a:pPr>
            <a:r>
              <a:t>3.1 &amp; 3.2 HARDWARE &amp; SOFTWARE SPECIFICATIONS</a:t>
            </a:r>
          </a:p>
        </p:txBody>
      </p:sp>
      <p:sp>
        <p:nvSpPr>
          <p:cNvPr id="4" name="Rounded Rectangle 3"/>
          <p:cNvSpPr/>
          <p:nvPr/>
        </p:nvSpPr>
        <p:spPr>
          <a:xfrm>
            <a:off x="7315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Hardware Specifications</a:t>
            </a:r>
          </a:p>
          <a:p>
            <a:pPr>
              <a:spcAft>
                <a:spcPts val="500"/>
              </a:spcAft>
              <a:defRPr sz="1200">
                <a:solidFill>
                  <a:srgbClr val="334155"/>
                </a:solidFill>
              </a:defRPr>
            </a:pPr>
            <a:r>
              <a:t>• Server Machine:</a:t>
            </a:r>
          </a:p>
          <a:p>
            <a:pPr>
              <a:spcAft>
                <a:spcPts val="500"/>
              </a:spcAft>
              <a:defRPr sz="1200">
                <a:solidFill>
                  <a:srgbClr val="334155"/>
                </a:solidFill>
              </a:defRPr>
            </a:pPr>
            <a:r>
              <a:t>     - Processor: Intel Core i5 / AMD Ryzen 3 7320U (2.40 GHz+)</a:t>
            </a:r>
          </a:p>
          <a:p>
            <a:pPr>
              <a:spcAft>
                <a:spcPts val="500"/>
              </a:spcAft>
              <a:defRPr sz="1200">
                <a:solidFill>
                  <a:srgbClr val="334155"/>
                </a:solidFill>
              </a:defRPr>
            </a:pPr>
            <a:r>
              <a:t>     - RAM: 8 GB DDR4</a:t>
            </a:r>
          </a:p>
          <a:p>
            <a:pPr>
              <a:spcAft>
                <a:spcPts val="500"/>
              </a:spcAft>
              <a:defRPr sz="1200">
                <a:solidFill>
                  <a:srgbClr val="334155"/>
                </a:solidFill>
              </a:defRPr>
            </a:pPr>
            <a:r>
              <a:t>     - Storage: 256 GB NVMe SSD for fast DB I/O</a:t>
            </a:r>
          </a:p>
          <a:p>
            <a:pPr>
              <a:spcAft>
                <a:spcPts val="500"/>
              </a:spcAft>
              <a:defRPr sz="1200">
                <a:solidFill>
                  <a:srgbClr val="334155"/>
                </a:solidFill>
              </a:defRPr>
            </a:pPr>
            <a:r>
              <a:t>     - Network: High-speed Broadband Internet Connection</a:t>
            </a:r>
          </a:p>
          <a:p>
            <a:pPr>
              <a:spcAft>
                <a:spcPts val="500"/>
              </a:spcAft>
              <a:defRPr sz="1200">
                <a:solidFill>
                  <a:srgbClr val="334155"/>
                </a:solidFill>
              </a:defRPr>
            </a:pPr>
            <a:r>
              <a:t>• Client Machine / Devices:</a:t>
            </a:r>
          </a:p>
          <a:p>
            <a:pPr>
              <a:spcAft>
                <a:spcPts val="500"/>
              </a:spcAft>
              <a:defRPr sz="1200">
                <a:solidFill>
                  <a:srgbClr val="334155"/>
                </a:solidFill>
              </a:defRPr>
            </a:pPr>
            <a:r>
              <a:t>     - Processor: Dual-Core 1.6 GHz or mobile processor</a:t>
            </a:r>
          </a:p>
          <a:p>
            <a:pPr>
              <a:spcAft>
                <a:spcPts val="500"/>
              </a:spcAft>
              <a:defRPr sz="1200">
                <a:solidFill>
                  <a:srgbClr val="334155"/>
                </a:solidFill>
              </a:defRPr>
            </a:pPr>
            <a:r>
              <a:t>     - RAM: 4 GB</a:t>
            </a:r>
          </a:p>
          <a:p>
            <a:pPr>
              <a:spcAft>
                <a:spcPts val="500"/>
              </a:spcAft>
              <a:defRPr sz="1200">
                <a:solidFill>
                  <a:srgbClr val="334155"/>
                </a:solidFill>
              </a:defRPr>
            </a:pPr>
            <a:r>
              <a:t>     - Display: 1024x768 resolution or smartphone screen</a:t>
            </a:r>
          </a:p>
        </p:txBody>
      </p:sp>
      <p:sp>
        <p:nvSpPr>
          <p:cNvPr id="5" name="Rounded Rectangle 4"/>
          <p:cNvSpPr/>
          <p:nvPr/>
        </p:nvSpPr>
        <p:spPr>
          <a:xfrm>
            <a:off x="62179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Software Specifications</a:t>
            </a:r>
          </a:p>
          <a:p>
            <a:pPr>
              <a:spcAft>
                <a:spcPts val="500"/>
              </a:spcAft>
              <a:defRPr sz="1200">
                <a:solidFill>
                  <a:srgbClr val="334155"/>
                </a:solidFill>
              </a:defRPr>
            </a:pPr>
            <a:r>
              <a:t>• Operating System: Windows 11 64-bit / Linux Ubuntu 22.04 LTS</a:t>
            </a:r>
          </a:p>
          <a:p>
            <a:pPr>
              <a:spcAft>
                <a:spcPts val="500"/>
              </a:spcAft>
              <a:defRPr sz="1200">
                <a:solidFill>
                  <a:srgbClr val="334155"/>
                </a:solidFill>
              </a:defRPr>
            </a:pPr>
            <a:r>
              <a:t>• Frontend Framework: React.js (v18+), Tailwind CSS</a:t>
            </a:r>
          </a:p>
          <a:p>
            <a:pPr>
              <a:spcAft>
                <a:spcPts val="500"/>
              </a:spcAft>
              <a:defRPr sz="1200">
                <a:solidFill>
                  <a:srgbClr val="334155"/>
                </a:solidFill>
              </a:defRPr>
            </a:pPr>
            <a:r>
              <a:t>• Backend Environment: Node.js (v18+) / Python (v3.11+)</a:t>
            </a:r>
          </a:p>
          <a:p>
            <a:pPr>
              <a:spcAft>
                <a:spcPts val="500"/>
              </a:spcAft>
              <a:defRPr sz="1200">
                <a:solidFill>
                  <a:srgbClr val="334155"/>
                </a:solidFill>
              </a:defRPr>
            </a:pPr>
            <a:r>
              <a:t>• Database Engine: SQLite3 / MongoDB</a:t>
            </a:r>
          </a:p>
          <a:p>
            <a:pPr>
              <a:spcAft>
                <a:spcPts val="500"/>
              </a:spcAft>
              <a:defRPr sz="1200">
                <a:solidFill>
                  <a:srgbClr val="334155"/>
                </a:solidFill>
              </a:defRPr>
            </a:pPr>
            <a:r>
              <a:t>• Web Server: Vite Dev Server / Nginx</a:t>
            </a:r>
          </a:p>
          <a:p>
            <a:pPr>
              <a:spcAft>
                <a:spcPts val="500"/>
              </a:spcAft>
              <a:defRPr sz="1200">
                <a:solidFill>
                  <a:srgbClr val="334155"/>
                </a:solidFill>
              </a:defRPr>
            </a:pPr>
            <a:r>
              <a:t>• Communication Services: Nodemailer (SMTP), Fast2SMS Bulk API</a:t>
            </a:r>
          </a:p>
          <a:p>
            <a:pPr>
              <a:spcAft>
                <a:spcPts val="500"/>
              </a:spcAft>
              <a:defRPr sz="1200">
                <a:solidFill>
                  <a:srgbClr val="334155"/>
                </a:solidFill>
              </a:defRPr>
            </a:pPr>
            <a:r>
              <a:t>• Development Tools: Visual Studio Code, Git Version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3: SYSTEM CONFIGURATION</a:t>
            </a:r>
          </a:p>
          <a:p>
            <a:pPr>
              <a:defRPr sz="2400" b="1">
                <a:solidFill>
                  <a:srgbClr val="103C58"/>
                </a:solidFill>
              </a:defRPr>
            </a:pPr>
            <a:r>
              <a:t>3.3 TECHNOLOGY STACK OVERVIEW</a:t>
            </a:r>
          </a:p>
        </p:txBody>
      </p:sp>
      <p:sp>
        <p:nvSpPr>
          <p:cNvPr id="4" name="Rounded Rectangle 3"/>
          <p:cNvSpPr/>
          <p:nvPr/>
        </p:nvSpPr>
        <p:spPr>
          <a:xfrm>
            <a:off x="731520" y="1463040"/>
            <a:ext cx="33832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Frontend: React.js &amp; Tailwind</a:t>
            </a:r>
          </a:p>
          <a:p>
            <a:pPr>
              <a:spcAft>
                <a:spcPts val="500"/>
              </a:spcAft>
              <a:defRPr sz="1200">
                <a:solidFill>
                  <a:srgbClr val="334155"/>
                </a:solidFill>
              </a:defRPr>
            </a:pPr>
            <a:r>
              <a:t>• Component-based UI architecture.</a:t>
            </a:r>
          </a:p>
          <a:p>
            <a:pPr>
              <a:spcAft>
                <a:spcPts val="500"/>
              </a:spcAft>
              <a:defRPr sz="1200">
                <a:solidFill>
                  <a:srgbClr val="334155"/>
                </a:solidFill>
              </a:defRPr>
            </a:pPr>
            <a:r>
              <a:t>• Fast dynamic DOM rendering.</a:t>
            </a:r>
          </a:p>
          <a:p>
            <a:pPr>
              <a:spcAft>
                <a:spcPts val="500"/>
              </a:spcAft>
              <a:defRPr sz="1200">
                <a:solidFill>
                  <a:srgbClr val="334155"/>
                </a:solidFill>
              </a:defRPr>
            </a:pPr>
            <a:r>
              <a:t>• Responsive styling using Tailwind CSS utility classes.</a:t>
            </a:r>
          </a:p>
          <a:p>
            <a:pPr>
              <a:spcAft>
                <a:spcPts val="500"/>
              </a:spcAft>
              <a:defRPr sz="1200">
                <a:solidFill>
                  <a:srgbClr val="334155"/>
                </a:solidFill>
              </a:defRPr>
            </a:pPr>
            <a:r>
              <a:t>• Single Page Application (SPA) experience.</a:t>
            </a:r>
          </a:p>
        </p:txBody>
      </p:sp>
      <p:sp>
        <p:nvSpPr>
          <p:cNvPr id="5" name="Rounded Rectangle 4"/>
          <p:cNvSpPr/>
          <p:nvPr/>
        </p:nvSpPr>
        <p:spPr>
          <a:xfrm>
            <a:off x="4389120" y="1463040"/>
            <a:ext cx="33832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Backend: Node.js / FastAPI</a:t>
            </a:r>
          </a:p>
          <a:p>
            <a:pPr>
              <a:spcAft>
                <a:spcPts val="500"/>
              </a:spcAft>
              <a:defRPr sz="1200">
                <a:solidFill>
                  <a:srgbClr val="334155"/>
                </a:solidFill>
              </a:defRPr>
            </a:pPr>
            <a:r>
              <a:t>• Asynchronous RESTful API framework.</a:t>
            </a:r>
          </a:p>
          <a:p>
            <a:pPr>
              <a:spcAft>
                <a:spcPts val="500"/>
              </a:spcAft>
              <a:defRPr sz="1200">
                <a:solidFill>
                  <a:srgbClr val="334155"/>
                </a:solidFill>
              </a:defRPr>
            </a:pPr>
            <a:r>
              <a:t>• Handles user authentication &amp; role verification.</a:t>
            </a:r>
          </a:p>
          <a:p>
            <a:pPr>
              <a:spcAft>
                <a:spcPts val="500"/>
              </a:spcAft>
              <a:defRPr sz="1200">
                <a:solidFill>
                  <a:srgbClr val="334155"/>
                </a:solidFill>
              </a:defRPr>
            </a:pPr>
            <a:r>
              <a:t>• Manages complex auction discount calculations.</a:t>
            </a:r>
          </a:p>
          <a:p>
            <a:pPr>
              <a:spcAft>
                <a:spcPts val="500"/>
              </a:spcAft>
              <a:defRPr sz="1200">
                <a:solidFill>
                  <a:srgbClr val="334155"/>
                </a:solidFill>
              </a:defRPr>
            </a:pPr>
            <a:r>
              <a:t>• Executes scheduled reminder cron jobs.</a:t>
            </a:r>
          </a:p>
        </p:txBody>
      </p:sp>
      <p:sp>
        <p:nvSpPr>
          <p:cNvPr id="6" name="Rounded Rectangle 5"/>
          <p:cNvSpPr/>
          <p:nvPr/>
        </p:nvSpPr>
        <p:spPr>
          <a:xfrm>
            <a:off x="8046720" y="1463040"/>
            <a:ext cx="33832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Database: SQLite / MongoDB</a:t>
            </a:r>
          </a:p>
          <a:p>
            <a:pPr>
              <a:spcAft>
                <a:spcPts val="500"/>
              </a:spcAft>
              <a:defRPr sz="1200">
                <a:solidFill>
                  <a:srgbClr val="334155"/>
                </a:solidFill>
              </a:defRPr>
            </a:pPr>
            <a:r>
              <a:t>• Structured tables for Users, Schemes, Bids, Dues, Receipts.</a:t>
            </a:r>
          </a:p>
          <a:p>
            <a:pPr>
              <a:spcAft>
                <a:spcPts val="500"/>
              </a:spcAft>
              <a:defRPr sz="1200">
                <a:solidFill>
                  <a:srgbClr val="334155"/>
                </a:solidFill>
              </a:defRPr>
            </a:pPr>
            <a:r>
              <a:t>• Acid compliance ensuring zero payment loss.</a:t>
            </a:r>
          </a:p>
          <a:p>
            <a:pPr>
              <a:spcAft>
                <a:spcPts val="500"/>
              </a:spcAft>
              <a:defRPr sz="1200">
                <a:solidFill>
                  <a:srgbClr val="334155"/>
                </a:solidFill>
              </a:defRPr>
            </a:pPr>
            <a:r>
              <a:t>• Relational integrity and foreign key constraints.</a:t>
            </a:r>
          </a:p>
          <a:p>
            <a:pPr>
              <a:spcAft>
                <a:spcPts val="500"/>
              </a:spcAft>
              <a:defRPr sz="1200">
                <a:solidFill>
                  <a:srgbClr val="334155"/>
                </a:solidFill>
              </a:defRPr>
            </a:pPr>
            <a:r>
              <a:t>• Fast query execution.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4.1 SYSTEM ARCHITECTURE &amp; WORKFLOW</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3-Tier Modular System Architecture</a:t>
            </a:r>
          </a:p>
          <a:p>
            <a:pPr>
              <a:spcAft>
                <a:spcPts val="500"/>
              </a:spcAft>
              <a:defRPr sz="1300">
                <a:solidFill>
                  <a:srgbClr val="334155"/>
                </a:solidFill>
              </a:defRPr>
            </a:pPr>
            <a:r>
              <a:t>• 1. Presentation Layer (React.js UI):</a:t>
            </a:r>
          </a:p>
          <a:p>
            <a:pPr>
              <a:spcAft>
                <a:spcPts val="500"/>
              </a:spcAft>
              <a:defRPr sz="1300">
                <a:solidFill>
                  <a:srgbClr val="334155"/>
                </a:solidFill>
              </a:defRPr>
            </a:pPr>
            <a:r>
              <a:t>     - Admin Portal: Scheme Builder, Member Manager, Auction Console, Payment Verification.</a:t>
            </a:r>
          </a:p>
          <a:p>
            <a:pPr>
              <a:spcAft>
                <a:spcPts val="500"/>
              </a:spcAft>
              <a:defRPr sz="1300">
                <a:solidFill>
                  <a:srgbClr val="334155"/>
                </a:solidFill>
              </a:defRPr>
            </a:pPr>
            <a:r>
              <a:t>     - Member Portal: Plan Explorer, Live Auction Bidder, Due Tracker, Digital Receipts.</a:t>
            </a:r>
          </a:p>
          <a:p>
            <a:pPr>
              <a:spcAft>
                <a:spcPts val="500"/>
              </a:spcAft>
              <a:defRPr sz="1300">
                <a:solidFill>
                  <a:srgbClr val="334155"/>
                </a:solidFill>
              </a:defRPr>
            </a:pPr>
            <a:r>
              <a:t>• 2. Application &amp; Logic Layer (Node.js API Services):</a:t>
            </a:r>
          </a:p>
          <a:p>
            <a:pPr>
              <a:spcAft>
                <a:spcPts val="500"/>
              </a:spcAft>
              <a:defRPr sz="1300">
                <a:solidFill>
                  <a:srgbClr val="334155"/>
                </a:solidFill>
              </a:defRPr>
            </a:pPr>
            <a:r>
              <a:t>     - Authentication Service: JWT / Password Hashing.</a:t>
            </a:r>
          </a:p>
          <a:p>
            <a:pPr>
              <a:spcAft>
                <a:spcPts val="500"/>
              </a:spcAft>
              <a:defRPr sz="1300">
                <a:solidFill>
                  <a:srgbClr val="334155"/>
                </a:solidFill>
              </a:defRPr>
            </a:pPr>
            <a:r>
              <a:t>     - Auction Calculation Service: Minimum Bid Limit, Foreman Fee (5%), Dividend Share.</a:t>
            </a:r>
          </a:p>
          <a:p>
            <a:pPr>
              <a:spcAft>
                <a:spcPts val="500"/>
              </a:spcAft>
              <a:defRPr sz="1300">
                <a:solidFill>
                  <a:srgbClr val="334155"/>
                </a:solidFill>
              </a:defRPr>
            </a:pPr>
            <a:r>
              <a:t>     - Payment Processor Service: Installment status updates, receipt generation.</a:t>
            </a:r>
          </a:p>
          <a:p>
            <a:pPr>
              <a:spcAft>
                <a:spcPts val="500"/>
              </a:spcAft>
              <a:defRPr sz="1300">
                <a:solidFill>
                  <a:srgbClr val="334155"/>
                </a:solidFill>
              </a:defRPr>
            </a:pPr>
            <a:r>
              <a:t>     - Messaging Service: Async Email dispatch &amp; SMS gateway trigger.</a:t>
            </a:r>
          </a:p>
          <a:p>
            <a:pPr>
              <a:spcAft>
                <a:spcPts val="500"/>
              </a:spcAft>
              <a:defRPr sz="1300">
                <a:solidFill>
                  <a:srgbClr val="334155"/>
                </a:solidFill>
              </a:defRPr>
            </a:pPr>
            <a:r>
              <a:t>• 3. Data Layer (Relational DB):</a:t>
            </a:r>
          </a:p>
          <a:p>
            <a:pPr>
              <a:spcAft>
                <a:spcPts val="500"/>
              </a:spcAft>
              <a:defRPr sz="1300">
                <a:solidFill>
                  <a:srgbClr val="334155"/>
                </a:solidFill>
              </a:defRPr>
            </a:pPr>
            <a:r>
              <a:t>     - Stores persistent data across Users, Chit Groups, Auction Rounds, Transactions, and Notifications.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4.1.1 DATA FLOW DIAGRAM SYMBOLS</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Standard Data Flow Diagram (DFD) Notations</a:t>
            </a:r>
          </a:p>
          <a:p>
            <a:pPr>
              <a:spcAft>
                <a:spcPts val="500"/>
              </a:spcAft>
              <a:defRPr sz="1400">
                <a:solidFill>
                  <a:srgbClr val="334155"/>
                </a:solidFill>
              </a:defRPr>
            </a:pPr>
            <a:r>
              <a:t>• • Arrow (---&gt;): Data Flow - Represents the path along which data moves between entities, processes, and stores.</a:t>
            </a:r>
          </a:p>
          <a:p>
            <a:pPr>
              <a:spcAft>
                <a:spcPts val="500"/>
              </a:spcAft>
              <a:defRPr sz="1400">
                <a:solidFill>
                  <a:srgbClr val="334155"/>
                </a:solidFill>
              </a:defRPr>
            </a:pPr>
            <a:r>
              <a:t>• • Circle / Ellipse: Process - Represents data transformation logic (e.g. Compute Dividend, Verify Payment).</a:t>
            </a:r>
          </a:p>
          <a:p>
            <a:pPr>
              <a:spcAft>
                <a:spcPts val="500"/>
              </a:spcAft>
              <a:defRPr sz="1400">
                <a:solidFill>
                  <a:srgbClr val="334155"/>
                </a:solidFill>
              </a:defRPr>
            </a:pPr>
            <a:r>
              <a:t>• • Rectangle: External Entity - Represents external agents interacting with the system (Admin, Subscriber, SMS Gateway).</a:t>
            </a:r>
          </a:p>
          <a:p>
            <a:pPr>
              <a:spcAft>
                <a:spcPts val="500"/>
              </a:spcAft>
              <a:defRPr sz="1400">
                <a:solidFill>
                  <a:srgbClr val="334155"/>
                </a:solidFill>
              </a:defRPr>
            </a:pPr>
            <a:r>
              <a:t>• • Parallelogram: Input / Output - Represents data input or output operations.</a:t>
            </a:r>
          </a:p>
          <a:p>
            <a:pPr>
              <a:spcAft>
                <a:spcPts val="500"/>
              </a:spcAft>
              <a:defRPr sz="1400">
                <a:solidFill>
                  <a:srgbClr val="334155"/>
                </a:solidFill>
              </a:defRPr>
            </a:pPr>
            <a:r>
              <a:t>• • Open Rectangle / Cylinder: Data Store - Represents repositories storing data (Users DB, Bids DB, Payments DB).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4.2.1 GRAPHICAL DFD LEVEL 0 &amp; LEVEL 1</a:t>
            </a:r>
          </a:p>
        </p:txBody>
      </p:sp>
      <p:sp>
        <p:nvSpPr>
          <p:cNvPr id="4" name="Rounded Rectangle 3"/>
          <p:cNvSpPr/>
          <p:nvPr/>
        </p:nvSpPr>
        <p:spPr>
          <a:xfrm>
            <a:off x="731520" y="1463040"/>
            <a:ext cx="47548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DFD Level 0 (Context Diagram)</a:t>
            </a:r>
          </a:p>
          <a:p>
            <a:pPr>
              <a:spcAft>
                <a:spcPts val="500"/>
              </a:spcAft>
              <a:defRPr sz="1200">
                <a:solidFill>
                  <a:srgbClr val="334155"/>
                </a:solidFill>
              </a:defRPr>
            </a:pPr>
            <a:r>
              <a:t>• Central Process: SecureChit System (0.0)</a:t>
            </a:r>
          </a:p>
          <a:p>
            <a:pPr>
              <a:spcAft>
                <a:spcPts val="500"/>
              </a:spcAft>
              <a:defRPr sz="1200">
                <a:solidFill>
                  <a:srgbClr val="334155"/>
                </a:solidFill>
              </a:defRPr>
            </a:pPr>
            <a:r>
              <a:t>• External Entities:</a:t>
            </a:r>
          </a:p>
          <a:p>
            <a:pPr>
              <a:spcAft>
                <a:spcPts val="500"/>
              </a:spcAft>
              <a:defRPr sz="1200">
                <a:solidFill>
                  <a:srgbClr val="334155"/>
                </a:solidFill>
              </a:defRPr>
            </a:pPr>
            <a:r>
              <a:t>     - Admin: Inputs Chit Scheme specs, approves payments, triggers auction.</a:t>
            </a:r>
          </a:p>
          <a:p>
            <a:pPr>
              <a:spcAft>
                <a:spcPts val="500"/>
              </a:spcAft>
              <a:defRPr sz="1200">
                <a:solidFill>
                  <a:srgbClr val="334155"/>
                </a:solidFill>
              </a:defRPr>
            </a:pPr>
            <a:r>
              <a:t>     - Member: Submits registration, inputs auction bid, submits installment payment.</a:t>
            </a:r>
          </a:p>
          <a:p>
            <a:pPr>
              <a:spcAft>
                <a:spcPts val="500"/>
              </a:spcAft>
              <a:defRPr sz="1200">
                <a:solidFill>
                  <a:srgbClr val="334155"/>
                </a:solidFill>
              </a:defRPr>
            </a:pPr>
            <a:r>
              <a:t>     - PostgreSQL DB: Persistent data store for users, auctions, and pronotes.</a:t>
            </a:r>
          </a:p>
        </p:txBody>
      </p:sp>
      <p:pic>
        <p:nvPicPr>
          <p:cNvPr id="5" name="Picture 4" descr="dfd_level_0.png"/>
          <p:cNvPicPr>
            <a:picLocks noChangeAspect="1"/>
          </p:cNvPicPr>
          <p:nvPr/>
        </p:nvPicPr>
        <p:blipFill>
          <a:blip r:embed="rId2"/>
          <a:stretch>
            <a:fillRect/>
          </a:stretch>
        </p:blipFill>
        <p:spPr>
          <a:xfrm>
            <a:off x="5760720" y="1463040"/>
            <a:ext cx="5669280" cy="384701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4.2.2 GRAPHICAL DFD LEVEL 1 &amp; LEVEL 2</a:t>
            </a:r>
          </a:p>
        </p:txBody>
      </p:sp>
      <p:sp>
        <p:nvSpPr>
          <p:cNvPr id="4" name="Rounded Rectangle 3"/>
          <p:cNvSpPr/>
          <p:nvPr/>
        </p:nvSpPr>
        <p:spPr>
          <a:xfrm>
            <a:off x="731520" y="1463040"/>
            <a:ext cx="47548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DFD Level 1 (System Decomposition)</a:t>
            </a:r>
          </a:p>
          <a:p>
            <a:pPr>
              <a:spcAft>
                <a:spcPts val="500"/>
              </a:spcAft>
              <a:defRPr sz="1200">
                <a:solidFill>
                  <a:srgbClr val="334155"/>
                </a:solidFill>
              </a:defRPr>
            </a:pPr>
            <a:r>
              <a:t>• 1.0 Authentication &amp; User Management</a:t>
            </a:r>
          </a:p>
          <a:p>
            <a:pPr>
              <a:spcAft>
                <a:spcPts val="500"/>
              </a:spcAft>
              <a:defRPr sz="1200">
                <a:solidFill>
                  <a:srgbClr val="334155"/>
                </a:solidFill>
              </a:defRPr>
            </a:pPr>
            <a:r>
              <a:t>• 2.0 Chit Scheme &amp; Plan Management</a:t>
            </a:r>
          </a:p>
          <a:p>
            <a:pPr>
              <a:spcAft>
                <a:spcPts val="500"/>
              </a:spcAft>
              <a:defRPr sz="1200">
                <a:solidFill>
                  <a:srgbClr val="334155"/>
                </a:solidFill>
              </a:defRPr>
            </a:pPr>
            <a:r>
              <a:t>• 3.0 Auction Bidding &amp; Draw Engine</a:t>
            </a:r>
          </a:p>
          <a:p>
            <a:pPr>
              <a:spcAft>
                <a:spcPts val="500"/>
              </a:spcAft>
              <a:defRPr sz="1200">
                <a:solidFill>
                  <a:srgbClr val="334155"/>
                </a:solidFill>
              </a:defRPr>
            </a:pPr>
            <a:r>
              <a:t>• 4.0 Promissory Note &amp; Canvas Signature</a:t>
            </a:r>
          </a:p>
          <a:p>
            <a:pPr>
              <a:spcAft>
                <a:spcPts val="500"/>
              </a:spcAft>
              <a:defRPr sz="1200">
                <a:solidFill>
                  <a:srgbClr val="334155"/>
                </a:solidFill>
              </a:defRPr>
            </a:pPr>
            <a:r>
              <a:t>• 5.0 Installment Ledger &amp; Payment Gateway</a:t>
            </a:r>
          </a:p>
        </p:txBody>
      </p:sp>
      <p:pic>
        <p:nvPicPr>
          <p:cNvPr id="5" name="Picture 4" descr="dfd_level_1.png"/>
          <p:cNvPicPr>
            <a:picLocks noChangeAspect="1"/>
          </p:cNvPicPr>
          <p:nvPr/>
        </p:nvPicPr>
        <p:blipFill>
          <a:blip r:embed="rId2"/>
          <a:stretch>
            <a:fillRect/>
          </a:stretch>
        </p:blipFill>
        <p:spPr>
          <a:xfrm>
            <a:off x="5760720" y="1463040"/>
            <a:ext cx="5669280" cy="42519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4.2.3 GRAPHICAL DFD LEVEL 2 &amp; LEVEL 3 WORKFLOWS</a:t>
            </a:r>
          </a:p>
        </p:txBody>
      </p:sp>
      <p:sp>
        <p:nvSpPr>
          <p:cNvPr id="4" name="Rounded Rectangle 3"/>
          <p:cNvSpPr/>
          <p:nvPr/>
        </p:nvSpPr>
        <p:spPr>
          <a:xfrm>
            <a:off x="731520" y="1463040"/>
            <a:ext cx="47548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DFD Level 2 &amp; 3: Detailed Engine</a:t>
            </a:r>
          </a:p>
          <a:p>
            <a:pPr>
              <a:spcAft>
                <a:spcPts val="500"/>
              </a:spcAft>
              <a:defRPr sz="1200">
                <a:solidFill>
                  <a:srgbClr val="334155"/>
                </a:solidFill>
              </a:defRPr>
            </a:pPr>
            <a:r>
              <a:t>• 3.1 Auction Draw Execution -&gt; Announce Winner</a:t>
            </a:r>
          </a:p>
          <a:p>
            <a:pPr>
              <a:spcAft>
                <a:spcPts val="500"/>
              </a:spcAft>
              <a:defRPr sz="1200">
                <a:solidFill>
                  <a:srgbClr val="334155"/>
                </a:solidFill>
              </a:defRPr>
            </a:pPr>
            <a:r>
              <a:t>• 3.2 Dividend Calculation -&gt; Net Payout</a:t>
            </a:r>
          </a:p>
          <a:p>
            <a:pPr>
              <a:spcAft>
                <a:spcPts val="500"/>
              </a:spcAft>
              <a:defRPr sz="1200">
                <a:solidFill>
                  <a:srgbClr val="334155"/>
                </a:solidFill>
              </a:defRPr>
            </a:pPr>
            <a:r>
              <a:t>• 4.1 Auto-Generate Pending Pronote</a:t>
            </a:r>
          </a:p>
          <a:p>
            <a:pPr>
              <a:spcAft>
                <a:spcPts val="500"/>
              </a:spcAft>
              <a:defRPr sz="1200">
                <a:solidFill>
                  <a:srgbClr val="334155"/>
                </a:solidFill>
              </a:defRPr>
            </a:pPr>
            <a:r>
              <a:t>• 4.2 Member HTML5 Canvas Signature</a:t>
            </a:r>
          </a:p>
          <a:p>
            <a:pPr>
              <a:spcAft>
                <a:spcPts val="500"/>
              </a:spcAft>
              <a:defRPr sz="1200">
                <a:solidFill>
                  <a:srgbClr val="334155"/>
                </a:solidFill>
              </a:defRPr>
            </a:pPr>
            <a:r>
              <a:t>• 4.3 Persistence &amp; PDF Receipt Rendering</a:t>
            </a:r>
          </a:p>
        </p:txBody>
      </p:sp>
      <p:pic>
        <p:nvPicPr>
          <p:cNvPr id="5" name="Picture 4" descr="dfd_level_2.png"/>
          <p:cNvPicPr>
            <a:picLocks noChangeAspect="1"/>
          </p:cNvPicPr>
          <p:nvPr/>
        </p:nvPicPr>
        <p:blipFill>
          <a:blip r:embed="rId2"/>
          <a:stretch>
            <a:fillRect/>
          </a:stretch>
        </p:blipFill>
        <p:spPr>
          <a:xfrm>
            <a:off x="5760720" y="1463040"/>
            <a:ext cx="5669280" cy="42519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4.3 DATABASE SCHEMA &amp; ER DESIGN</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Core Database Tables &amp; Entity Relationships</a:t>
            </a:r>
          </a:p>
          <a:p>
            <a:pPr>
              <a:spcAft>
                <a:spcPts val="500"/>
              </a:spcAft>
              <a:defRPr sz="1300">
                <a:solidFill>
                  <a:srgbClr val="334155"/>
                </a:solidFill>
              </a:defRPr>
            </a:pPr>
            <a:r>
              <a:t>• 1. USERS Table: user_id (PK), name, email, phone, role (admin/member), password_hash, created_at</a:t>
            </a:r>
          </a:p>
          <a:p>
            <a:pPr>
              <a:spcAft>
                <a:spcPts val="500"/>
              </a:spcAft>
              <a:defRPr sz="1300">
                <a:solidFill>
                  <a:srgbClr val="334155"/>
                </a:solidFill>
              </a:defRPr>
            </a:pPr>
            <a:r>
              <a:t>• 2. CHIT_SCHEMES Table: scheme_id (PK), scheme_name, total_amount, duration_months, monthly_installment, max_members, status</a:t>
            </a:r>
          </a:p>
          <a:p>
            <a:pPr>
              <a:spcAft>
                <a:spcPts val="500"/>
              </a:spcAft>
              <a:defRPr sz="1300">
                <a:solidFill>
                  <a:srgbClr val="334155"/>
                </a:solidFill>
              </a:defRPr>
            </a:pPr>
            <a:r>
              <a:t>• 3. CHIT_MEMBERS Table: member_id (PK), scheme_id (FK), user_id (FK), join_date, status</a:t>
            </a:r>
          </a:p>
          <a:p>
            <a:pPr>
              <a:spcAft>
                <a:spcPts val="500"/>
              </a:spcAft>
              <a:defRPr sz="1300">
                <a:solidFill>
                  <a:srgbClr val="334155"/>
                </a:solidFill>
              </a:defRPr>
            </a:pPr>
            <a:r>
              <a:t>• 4. AUCTION_ROUNDS Table: auction_id (PK), scheme_id (FK), month_no, winner_user_id (FK), winning_bid, dividend_per_member, auction_date</a:t>
            </a:r>
          </a:p>
          <a:p>
            <a:pPr>
              <a:spcAft>
                <a:spcPts val="500"/>
              </a:spcAft>
              <a:defRPr sz="1300">
                <a:solidFill>
                  <a:srgbClr val="334155"/>
                </a:solidFill>
              </a:defRPr>
            </a:pPr>
            <a:r>
              <a:t>• 5. INSTALLMENT_PAYMENTS Table: payment_id (PK), scheme_id (FK), user_id (FK), month_no, due_amount, paid_amount, payment_status, receipt_ref, paid_date</a:t>
            </a:r>
          </a:p>
          <a:p>
            <a:pPr>
              <a:spcAft>
                <a:spcPts val="500"/>
              </a:spcAft>
              <a:defRPr sz="1300">
                <a:solidFill>
                  <a:srgbClr val="334155"/>
                </a:solidFill>
              </a:defRPr>
            </a:pPr>
            <a:r>
              <a:t>• Relationships: One User can join Many Chit Schemes. One Chit Scheme has Many Auction Rounds &amp; Installment Payments.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4.4.1 MODULE DESIGN: ADMIN MANAGEMENT</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Admin Management Module Functions</a:t>
            </a:r>
          </a:p>
          <a:p>
            <a:pPr>
              <a:spcAft>
                <a:spcPts val="500"/>
              </a:spcAft>
              <a:defRPr sz="1400">
                <a:solidFill>
                  <a:srgbClr val="334155"/>
                </a:solidFill>
              </a:defRPr>
            </a:pPr>
            <a:r>
              <a:t>• • Scheme Builder: Create custom chit plans with defined total pool, tenure, and monthly installment rules.</a:t>
            </a:r>
          </a:p>
          <a:p>
            <a:pPr>
              <a:spcAft>
                <a:spcPts val="500"/>
              </a:spcAft>
              <a:defRPr sz="1400">
                <a:solidFill>
                  <a:srgbClr val="334155"/>
                </a:solidFill>
              </a:defRPr>
            </a:pPr>
            <a:r>
              <a:t>• • Subscriber Approval Console: Review and approve new subscriber registration requests.</a:t>
            </a:r>
          </a:p>
          <a:p>
            <a:pPr>
              <a:spcAft>
                <a:spcPts val="500"/>
              </a:spcAft>
              <a:defRPr sz="1400">
                <a:solidFill>
                  <a:srgbClr val="334155"/>
                </a:solidFill>
              </a:defRPr>
            </a:pPr>
            <a:r>
              <a:t>• • Auction Supervisory Engine: Monitor live monthly bidding, verify bid eligibility, and close auction rounds.</a:t>
            </a:r>
          </a:p>
          <a:p>
            <a:pPr>
              <a:spcAft>
                <a:spcPts val="500"/>
              </a:spcAft>
              <a:defRPr sz="1400">
                <a:solidFill>
                  <a:srgbClr val="334155"/>
                </a:solidFill>
              </a:defRPr>
            </a:pPr>
            <a:r>
              <a:t>• • Payment Verification Manager: Inspect payment receipt references submitted by subscribers and verify bank credits.</a:t>
            </a:r>
          </a:p>
          <a:p>
            <a:pPr>
              <a:spcAft>
                <a:spcPts val="500"/>
              </a:spcAft>
              <a:defRPr sz="1400">
                <a:solidFill>
                  <a:srgbClr val="334155"/>
                </a:solidFill>
              </a:defRPr>
            </a:pPr>
            <a:r>
              <a:t>• • System Dashboard: Real-time overview of active chit schemes, total funds collected, pending dues, and active subscribers.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4.4.2 MODULE DESIGN: MEMBER PORTAL &amp; AUCTIONS</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Member Portal &amp; Bidding Engine Functions</a:t>
            </a:r>
          </a:p>
          <a:p>
            <a:pPr>
              <a:spcAft>
                <a:spcPts val="500"/>
              </a:spcAft>
              <a:defRPr sz="1400">
                <a:solidFill>
                  <a:srgbClr val="334155"/>
                </a:solidFill>
              </a:defRPr>
            </a:pPr>
            <a:r>
              <a:t>• • Personal Member Dashboard: Displays active subscribed chit plans, total dividend earned, and current due amounts.</a:t>
            </a:r>
          </a:p>
          <a:p>
            <a:pPr>
              <a:spcAft>
                <a:spcPts val="500"/>
              </a:spcAft>
              <a:defRPr sz="1400">
                <a:solidFill>
                  <a:srgbClr val="334155"/>
                </a:solidFill>
              </a:defRPr>
            </a:pPr>
            <a:r>
              <a:t>• • Scheme Explorer: Allows members to browse available new chit schemes and submit join requests.</a:t>
            </a:r>
          </a:p>
          <a:p>
            <a:pPr>
              <a:spcAft>
                <a:spcPts val="500"/>
              </a:spcAft>
              <a:defRPr sz="1400">
                <a:solidFill>
                  <a:srgbClr val="334155"/>
                </a:solidFill>
              </a:defRPr>
            </a:pPr>
            <a:r>
              <a:t>• • Live Bidding Interface: Interactive console to submit bids during scheduled monthly auction windows.</a:t>
            </a:r>
          </a:p>
          <a:p>
            <a:pPr>
              <a:spcAft>
                <a:spcPts val="500"/>
              </a:spcAft>
              <a:defRPr sz="1400">
                <a:solidFill>
                  <a:srgbClr val="334155"/>
                </a:solidFill>
              </a:defRPr>
            </a:pPr>
            <a:r>
              <a:t>• • Dividend Tracker: Transparent calculation table showing monthly discount distributions and net payable installments.</a:t>
            </a:r>
          </a:p>
          <a:p>
            <a:pPr>
              <a:spcAft>
                <a:spcPts val="500"/>
              </a:spcAft>
              <a:defRPr sz="1400">
                <a:solidFill>
                  <a:srgbClr val="334155"/>
                </a:solidFill>
              </a:defRPr>
            </a:pPr>
            <a:r>
              <a:t>• • Payment History Ledger: Complete history of past installment payments, receipt references, and approval statuses.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4.4.3 MODULE DESIGN: INSTALLMENT &amp; PAYMENTS</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Installment Tracking &amp; Payment Verification Module Functions</a:t>
            </a:r>
          </a:p>
          <a:p>
            <a:pPr>
              <a:spcAft>
                <a:spcPts val="500"/>
              </a:spcAft>
              <a:defRPr sz="1400">
                <a:solidFill>
                  <a:srgbClr val="334155"/>
                </a:solidFill>
              </a:defRPr>
            </a:pPr>
            <a:r>
              <a:t>• • Dynamic Due Calculation: Automatically adjusts monthly installment payable based on dividend earned from latest auction.</a:t>
            </a:r>
          </a:p>
          <a:p>
            <a:pPr>
              <a:spcAft>
                <a:spcPts val="500"/>
              </a:spcAft>
              <a:defRPr sz="1400">
                <a:solidFill>
                  <a:srgbClr val="334155"/>
                </a:solidFill>
              </a:defRPr>
            </a:pPr>
            <a:r>
              <a:t>• • Receipt Upload &amp; Payment Logging: Subscribers enter payment transaction IDs or upload transfer screenshots.</a:t>
            </a:r>
          </a:p>
          <a:p>
            <a:pPr>
              <a:spcAft>
                <a:spcPts val="500"/>
              </a:spcAft>
              <a:defRPr sz="1400">
                <a:solidFill>
                  <a:srgbClr val="334155"/>
                </a:solidFill>
              </a:defRPr>
            </a:pPr>
            <a:r>
              <a:t>• • Automated Approval Workflow: Admin verifies transaction reference and updates installment status to 'Verified'.</a:t>
            </a:r>
          </a:p>
          <a:p>
            <a:pPr>
              <a:spcAft>
                <a:spcPts val="500"/>
              </a:spcAft>
              <a:defRPr sz="1400">
                <a:solidFill>
                  <a:srgbClr val="334155"/>
                </a:solidFill>
              </a:defRPr>
            </a:pPr>
            <a:r>
              <a:t>• • Default Prevention Mechanism: Identifies overdue installments and flags default risk before next auction round.</a:t>
            </a:r>
          </a:p>
          <a:p>
            <a:pPr>
              <a:spcAft>
                <a:spcPts val="500"/>
              </a:spcAft>
              <a:defRPr sz="1400">
                <a:solidFill>
                  <a:srgbClr val="334155"/>
                </a:solidFill>
              </a:defRPr>
            </a:pPr>
            <a:r>
              <a:t>• • Digital Statement Generation: Generates printable summary statements for subscriber records.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SECTION 4: SYSTEM DESIGN</a:t>
            </a:r>
          </a:p>
          <a:p>
            <a:pPr>
              <a:defRPr sz="2400" b="1">
                <a:solidFill>
                  <a:srgbClr val="103C58"/>
                </a:solidFill>
              </a:defRPr>
            </a:pPr>
            <a:r>
              <a:t>4.4.4 MODULE DESIGN: NOTIFICATION ENGINE</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Automated SMS &amp; Email Communication Module Functions</a:t>
            </a:r>
          </a:p>
          <a:p>
            <a:pPr>
              <a:spcAft>
                <a:spcPts val="500"/>
              </a:spcAft>
              <a:defRPr sz="1400">
                <a:solidFill>
                  <a:srgbClr val="334155"/>
                </a:solidFill>
              </a:defRPr>
            </a:pPr>
            <a:r>
              <a:t>• • Due Reminder Alerts: Dispatches automated SMS via Fast2SMS API to member mobile numbers 3 days prior to due date.</a:t>
            </a:r>
          </a:p>
          <a:p>
            <a:pPr>
              <a:spcAft>
                <a:spcPts val="500"/>
              </a:spcAft>
              <a:defRPr sz="1400">
                <a:solidFill>
                  <a:srgbClr val="334155"/>
                </a:solidFill>
              </a:defRPr>
            </a:pPr>
            <a:r>
              <a:t>• • Email Notifications: Sends HTML format email alerts via SMTP/Nodemailer containing monthly due breakdowns.</a:t>
            </a:r>
          </a:p>
          <a:p>
            <a:pPr>
              <a:spcAft>
                <a:spcPts val="500"/>
              </a:spcAft>
              <a:defRPr sz="1400">
                <a:solidFill>
                  <a:srgbClr val="334155"/>
                </a:solidFill>
              </a:defRPr>
            </a:pPr>
            <a:r>
              <a:t>• • Auction Announcement: Sends instant notifications to scheme members announcing upcoming live auction schedules.</a:t>
            </a:r>
          </a:p>
          <a:p>
            <a:pPr>
              <a:spcAft>
                <a:spcPts val="500"/>
              </a:spcAft>
              <a:defRPr sz="1400">
                <a:solidFill>
                  <a:srgbClr val="334155"/>
                </a:solidFill>
              </a:defRPr>
            </a:pPr>
            <a:r>
              <a:t>• • Winner Declaration Alert: Immediately notifies all group members of the auction winner name and dividend earned.</a:t>
            </a:r>
          </a:p>
          <a:p>
            <a:pPr>
              <a:spcAft>
                <a:spcPts val="500"/>
              </a:spcAft>
              <a:defRPr sz="1400">
                <a:solidFill>
                  <a:srgbClr val="334155"/>
                </a:solidFill>
              </a:defRPr>
            </a:pPr>
            <a:r>
              <a:t>• • Payment Confirmation Receipts: Sends instant SMS confirmation upon successful admin payment verification.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SYSTEM EVALUATION &amp; CONCLUSION</a:t>
            </a:r>
          </a:p>
          <a:p>
            <a:pPr>
              <a:defRPr sz="2400" b="1">
                <a:solidFill>
                  <a:srgbClr val="103C58"/>
                </a:solidFill>
              </a:defRPr>
            </a:pPr>
            <a:r>
              <a:t>SECTION 8: CONCLUSION</a:t>
            </a:r>
          </a:p>
        </p:txBody>
      </p:sp>
      <p:sp>
        <p:nvSpPr>
          <p:cNvPr id="4" name="Rounded Rectangle 3"/>
          <p:cNvSpPr/>
          <p:nvPr/>
        </p:nvSpPr>
        <p:spPr>
          <a:xfrm>
            <a:off x="731520" y="1463040"/>
            <a:ext cx="106984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Project Summary &amp; Value Delivered</a:t>
            </a:r>
          </a:p>
          <a:p>
            <a:pPr>
              <a:spcAft>
                <a:spcPts val="500"/>
              </a:spcAft>
              <a:defRPr sz="1400">
                <a:solidFill>
                  <a:srgbClr val="334155"/>
                </a:solidFill>
              </a:defRPr>
            </a:pPr>
            <a:r>
              <a:t>• • Successful Digital Transformation: SecureChit successfully modernizes traditional chit fund operations into a transparent digital web platform.</a:t>
            </a:r>
          </a:p>
          <a:p>
            <a:pPr>
              <a:spcAft>
                <a:spcPts val="500"/>
              </a:spcAft>
              <a:defRPr sz="1400">
                <a:solidFill>
                  <a:srgbClr val="334155"/>
                </a:solidFill>
              </a:defRPr>
            </a:pPr>
            <a:r>
              <a:t>• • Total Financial Transparency: Eliminates bid manipulation, opaque discount distribution, and manual calculation errors.</a:t>
            </a:r>
          </a:p>
          <a:p>
            <a:pPr>
              <a:spcAft>
                <a:spcPts val="500"/>
              </a:spcAft>
              <a:defRPr sz="1400">
                <a:solidFill>
                  <a:srgbClr val="334155"/>
                </a:solidFill>
              </a:defRPr>
            </a:pPr>
            <a:r>
              <a:t>• • Enhanced Operational Efficiency: Reduces administrative workload by over 80% through automated dividend and due calculations.</a:t>
            </a:r>
          </a:p>
          <a:p>
            <a:pPr>
              <a:spcAft>
                <a:spcPts val="500"/>
              </a:spcAft>
              <a:defRPr sz="1400">
                <a:solidFill>
                  <a:srgbClr val="334155"/>
                </a:solidFill>
              </a:defRPr>
            </a:pPr>
            <a:r>
              <a:t>• • Improved Member Engagement: Automated multi-channel (SMS/Email) alerts ensure timely installment collections and zero missed auctions.</a:t>
            </a:r>
          </a:p>
          <a:p>
            <a:pPr>
              <a:spcAft>
                <a:spcPts val="500"/>
              </a:spcAft>
              <a:defRPr sz="1400">
                <a:solidFill>
                  <a:srgbClr val="334155"/>
                </a:solidFill>
              </a:defRPr>
            </a:pPr>
            <a:r>
              <a:t>• • Robust Academic &amp; Practical Foundation: Implemented using modern full-stack web architecture complying with academic standards.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1100" b="1">
                <a:solidFill>
                  <a:srgbClr val="03739E"/>
                </a:solidFill>
              </a:defRPr>
            </a:pPr>
            <a:r>
              <a:t>FUTURE SCOPE &amp; REFERENCES</a:t>
            </a:r>
          </a:p>
          <a:p>
            <a:pPr>
              <a:defRPr sz="2400" b="1">
                <a:solidFill>
                  <a:srgbClr val="103C58"/>
                </a:solidFill>
              </a:defRPr>
            </a:pPr>
            <a:r>
              <a:t>SECTIONS 9 &amp; 10: FUTURE ENHANCEMENTS &amp; BIBLIOGRAPHY</a:t>
            </a:r>
          </a:p>
        </p:txBody>
      </p:sp>
      <p:sp>
        <p:nvSpPr>
          <p:cNvPr id="4" name="Rounded Rectangle 3"/>
          <p:cNvSpPr/>
          <p:nvPr/>
        </p:nvSpPr>
        <p:spPr>
          <a:xfrm>
            <a:off x="7315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Section 9: Future Enhancements</a:t>
            </a:r>
          </a:p>
          <a:p>
            <a:pPr>
              <a:spcAft>
                <a:spcPts val="500"/>
              </a:spcAft>
              <a:defRPr sz="1200">
                <a:solidFill>
                  <a:srgbClr val="334155"/>
                </a:solidFill>
              </a:defRPr>
            </a:pPr>
            <a:r>
              <a:t>• 1. Native Mobile Application: Develop Android &amp; iOS app versions using React Native for push notifications.</a:t>
            </a:r>
          </a:p>
          <a:p>
            <a:pPr>
              <a:spcAft>
                <a:spcPts val="500"/>
              </a:spcAft>
              <a:defRPr sz="1200">
                <a:solidFill>
                  <a:srgbClr val="334155"/>
                </a:solidFill>
              </a:defRPr>
            </a:pPr>
            <a:r>
              <a:t>• 2. Integrated Payment Gateway: Seamless UPI/Card payment integration (Razorpay/UPI Intent).</a:t>
            </a:r>
          </a:p>
          <a:p>
            <a:pPr>
              <a:spcAft>
                <a:spcPts val="500"/>
              </a:spcAft>
              <a:defRPr sz="1200">
                <a:solidFill>
                  <a:srgbClr val="334155"/>
                </a:solidFill>
              </a:defRPr>
            </a:pPr>
            <a:r>
              <a:t>• 3. AI-Powered Default Risk Prediction: Machine learning models predicting default probability based on payment trends.</a:t>
            </a:r>
          </a:p>
          <a:p>
            <a:pPr>
              <a:spcAft>
                <a:spcPts val="500"/>
              </a:spcAft>
              <a:defRPr sz="1200">
                <a:solidFill>
                  <a:srgbClr val="334155"/>
                </a:solidFill>
              </a:defRPr>
            </a:pPr>
            <a:r>
              <a:t>• 4. Blockchain Smart Contracts: Immutable ledger recording auction bids and payouts on permissioned blockchain.</a:t>
            </a:r>
          </a:p>
        </p:txBody>
      </p:sp>
      <p:sp>
        <p:nvSpPr>
          <p:cNvPr id="5" name="Rounded Rectangle 4"/>
          <p:cNvSpPr/>
          <p:nvPr/>
        </p:nvSpPr>
        <p:spPr>
          <a:xfrm>
            <a:off x="6217920" y="1463040"/>
            <a:ext cx="5212080" cy="4754880"/>
          </a:xfrm>
          <a:prstGeom prst="roundRect">
            <a:avLst/>
          </a:prstGeom>
          <a:solidFill>
            <a:srgbClr val="F0F6FA"/>
          </a:solidFill>
          <a:ln w="19050">
            <a:solidFill>
              <a:srgbClr val="03739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800"/>
              </a:spcAft>
              <a:defRPr sz="1600" b="1">
                <a:solidFill>
                  <a:srgbClr val="103C58"/>
                </a:solidFill>
              </a:defRPr>
            </a:pPr>
            <a:r>
              <a:t>Section 10: Bibliography</a:t>
            </a:r>
          </a:p>
          <a:p>
            <a:pPr>
              <a:spcAft>
                <a:spcPts val="500"/>
              </a:spcAft>
              <a:defRPr sz="1200">
                <a:solidFill>
                  <a:srgbClr val="334155"/>
                </a:solidFill>
              </a:defRPr>
            </a:pPr>
            <a:r>
              <a:t>• Book References:</a:t>
            </a:r>
          </a:p>
          <a:p>
            <a:pPr>
              <a:spcAft>
                <a:spcPts val="500"/>
              </a:spcAft>
              <a:defRPr sz="1200">
                <a:solidFill>
                  <a:srgbClr val="334155"/>
                </a:solidFill>
              </a:defRPr>
            </a:pPr>
            <a:r>
              <a:t>     - Alex Banks, Eve Porcello, Learning React, 2nd Ed., O'Reilly Media, 2020.</a:t>
            </a:r>
          </a:p>
          <a:p>
            <a:pPr>
              <a:spcAft>
                <a:spcPts val="500"/>
              </a:spcAft>
              <a:defRPr sz="1200">
                <a:solidFill>
                  <a:srgbClr val="334155"/>
                </a:solidFill>
              </a:defRPr>
            </a:pPr>
            <a:r>
              <a:t>     - David Choi, Full-Stack React Projects, 2nd Ed., Packt Publishing, 2020.</a:t>
            </a:r>
          </a:p>
          <a:p>
            <a:pPr>
              <a:spcAft>
                <a:spcPts val="500"/>
              </a:spcAft>
              <a:defRPr sz="1200">
                <a:solidFill>
                  <a:srgbClr val="334155"/>
                </a:solidFill>
              </a:defRPr>
            </a:pPr>
            <a:r>
              <a:t>• Web References:</a:t>
            </a:r>
          </a:p>
          <a:p>
            <a:pPr>
              <a:spcAft>
                <a:spcPts val="500"/>
              </a:spcAft>
              <a:defRPr sz="1200">
                <a:solidFill>
                  <a:srgbClr val="334155"/>
                </a:solidFill>
              </a:defRPr>
            </a:pPr>
            <a:r>
              <a:t>     - React Docs: https://react.dev</a:t>
            </a:r>
          </a:p>
          <a:p>
            <a:pPr>
              <a:spcAft>
                <a:spcPts val="500"/>
              </a:spcAft>
              <a:defRPr sz="1200">
                <a:solidFill>
                  <a:srgbClr val="334155"/>
                </a:solidFill>
              </a:defRPr>
            </a:pPr>
            <a:r>
              <a:t>     - Node.js Documentation: https://nodejs.org/docs</a:t>
            </a:r>
          </a:p>
          <a:p>
            <a:pPr>
              <a:spcAft>
                <a:spcPts val="500"/>
              </a:spcAft>
              <a:defRPr sz="1200">
                <a:solidFill>
                  <a:srgbClr val="334155"/>
                </a:solidFill>
              </a:defRPr>
            </a:pPr>
            <a:r>
              <a:t>     - Fast2SMS API Guide: https://www.fast2sms.com/dev/bulkV2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